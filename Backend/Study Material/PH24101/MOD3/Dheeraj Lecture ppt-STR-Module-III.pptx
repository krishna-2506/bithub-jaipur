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334" r:id="rId3"/>
    <p:sldId id="335" r:id="rId4"/>
    <p:sldId id="336" r:id="rId5"/>
    <p:sldId id="338" r:id="rId6"/>
    <p:sldId id="262" r:id="rId7"/>
    <p:sldId id="331" r:id="rId8"/>
    <p:sldId id="265" r:id="rId9"/>
    <p:sldId id="280" r:id="rId10"/>
    <p:sldId id="266" r:id="rId11"/>
    <p:sldId id="267" r:id="rId12"/>
    <p:sldId id="268" r:id="rId13"/>
    <p:sldId id="269" r:id="rId14"/>
    <p:sldId id="270" r:id="rId15"/>
    <p:sldId id="271" r:id="rId16"/>
    <p:sldId id="319" r:id="rId17"/>
    <p:sldId id="34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BEF04D-35FC-4531-A249-D4E875CDAD7A}" type="datetimeFigureOut">
              <a:rPr lang="en-US" smtClean="0"/>
              <a:pPr/>
              <a:t>2/16/2024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F6BF5A-CCEE-462D-AF59-54CCBBF6C2C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3401" y="2057400"/>
            <a:ext cx="8229600" cy="1200329"/>
          </a:xfrm>
          <a:prstGeom prst="rect">
            <a:avLst/>
          </a:prstGeom>
          <a:noFill/>
        </p:spPr>
        <p:txBody>
          <a:bodyPr wrap="square" rtlCol="0">
            <a:spAutoFit/>
          </a:bodyPr>
          <a:lstStyle/>
          <a:p>
            <a:r>
              <a:rPr lang="en-US" sz="2400" b="1" dirty="0"/>
              <a:t>Special Theory of Relativity: </a:t>
            </a:r>
            <a:endParaRPr lang="en-US" sz="2400" dirty="0"/>
          </a:p>
          <a:p>
            <a:r>
              <a:rPr lang="en-IN" sz="2400" dirty="0"/>
              <a:t>Introduction, Inertial frame of reference, </a:t>
            </a:r>
          </a:p>
          <a:p>
            <a:r>
              <a:rPr lang="en-IN" sz="2400" dirty="0"/>
              <a:t>Galilean transformations, Postulates,  Lorentz transformations</a:t>
            </a:r>
            <a:endParaRPr lang="en-US" sz="2400" dirty="0"/>
          </a:p>
        </p:txBody>
      </p:sp>
      <p:sp>
        <p:nvSpPr>
          <p:cNvPr id="4" name="Rectangle 3"/>
          <p:cNvSpPr/>
          <p:nvPr/>
        </p:nvSpPr>
        <p:spPr>
          <a:xfrm>
            <a:off x="3276600" y="381000"/>
            <a:ext cx="2055371" cy="646331"/>
          </a:xfrm>
          <a:prstGeom prst="rect">
            <a:avLst/>
          </a:prstGeom>
        </p:spPr>
        <p:txBody>
          <a:bodyPr wrap="none">
            <a:spAutoFit/>
          </a:bodyPr>
          <a:lstStyle/>
          <a:p>
            <a:r>
              <a:rPr lang="en-IN" sz="3600" b="1" u="sng" dirty="0"/>
              <a:t>Module</a:t>
            </a:r>
            <a:r>
              <a:rPr lang="en-IN" sz="3600" b="1" dirty="0"/>
              <a:t>-3</a:t>
            </a:r>
            <a:endParaRPr lang="en-US" sz="3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0B7390-98D4-CBC9-A7A1-373831DEA47B}"/>
              </a:ext>
            </a:extLst>
          </p:cNvPr>
          <p:cNvSpPr txBox="1"/>
          <p:nvPr/>
        </p:nvSpPr>
        <p:spPr>
          <a:xfrm>
            <a:off x="381000" y="457200"/>
            <a:ext cx="8382000" cy="5232202"/>
          </a:xfrm>
          <a:prstGeom prst="rect">
            <a:avLst/>
          </a:prstGeom>
          <a:noFill/>
        </p:spPr>
        <p:txBody>
          <a:bodyPr wrap="square" rtlCol="0">
            <a:spAutoFit/>
          </a:bodyPr>
          <a:lstStyle/>
          <a:p>
            <a:pPr algn="just"/>
            <a:r>
              <a:rPr lang="en-US" sz="3200" b="1" i="0" dirty="0">
                <a:solidFill>
                  <a:srgbClr val="FF0000"/>
                </a:solidFill>
                <a:effectLst/>
                <a:latin typeface="Trebuchet MS" panose="020B0603020202020204" pitchFamily="34" charset="0"/>
              </a:rPr>
              <a:t>The Science of Physics is often divided into Classical Physics and Modern Physics.</a:t>
            </a:r>
            <a:br>
              <a:rPr lang="en-US" sz="3200" b="1" dirty="0">
                <a:solidFill>
                  <a:srgbClr val="FF0000"/>
                </a:solidFill>
              </a:rPr>
            </a:br>
            <a:br>
              <a:rPr lang="en-US" b="1" i="0" dirty="0">
                <a:solidFill>
                  <a:srgbClr val="FF0000"/>
                </a:solidFill>
                <a:effectLst/>
                <a:latin typeface="Trebuchet MS" panose="020B0603020202020204" pitchFamily="34" charset="0"/>
              </a:rPr>
            </a:br>
            <a:r>
              <a:rPr lang="en-US" b="1" i="0" dirty="0">
                <a:solidFill>
                  <a:srgbClr val="FF0000"/>
                </a:solidFill>
                <a:effectLst/>
                <a:latin typeface="Trebuchet MS" panose="020B0603020202020204" pitchFamily="34" charset="0"/>
              </a:rPr>
              <a:t>Classical Physics</a:t>
            </a:r>
            <a:r>
              <a:rPr lang="en-US" b="0" i="0" dirty="0">
                <a:solidFill>
                  <a:srgbClr val="000000"/>
                </a:solidFill>
                <a:effectLst/>
                <a:latin typeface="Trebuchet MS" panose="020B0603020202020204" pitchFamily="34" charset="0"/>
              </a:rPr>
              <a:t> in a model of the macroscopic world around us.  All the laws of classical physics were known by the end of the 19</a:t>
            </a:r>
            <a:r>
              <a:rPr lang="en-US" b="0" i="0" baseline="30000" dirty="0">
                <a:solidFill>
                  <a:srgbClr val="000000"/>
                </a:solidFill>
                <a:effectLst/>
                <a:latin typeface="Trebuchet MS" panose="020B0603020202020204" pitchFamily="34" charset="0"/>
              </a:rPr>
              <a:t>th</a:t>
            </a:r>
            <a:r>
              <a:rPr lang="en-US" b="0" i="0" dirty="0">
                <a:solidFill>
                  <a:srgbClr val="000000"/>
                </a:solidFill>
                <a:effectLst/>
                <a:latin typeface="Trebuchet MS" panose="020B0603020202020204" pitchFamily="34" charset="0"/>
              </a:rPr>
              <a:t> century.  Classical physics works well describing and predicting almost all everyday phenomena.  </a:t>
            </a:r>
            <a:r>
              <a:rPr lang="en-US" b="0" i="0" dirty="0">
                <a:solidFill>
                  <a:srgbClr val="0000FF"/>
                </a:solidFill>
                <a:effectLst/>
                <a:latin typeface="Trebuchet MS" panose="020B0603020202020204" pitchFamily="34" charset="0"/>
              </a:rPr>
              <a:t>The known properties of matter at the end of the 19th century were mass and charge.  The smallest constituents were atoms.  </a:t>
            </a:r>
          </a:p>
          <a:p>
            <a:pPr algn="just"/>
            <a:endParaRPr lang="en-US" dirty="0">
              <a:solidFill>
                <a:srgbClr val="0000FF"/>
              </a:solidFill>
              <a:latin typeface="Trebuchet MS" panose="020B0603020202020204" pitchFamily="34" charset="0"/>
            </a:endParaRPr>
          </a:p>
          <a:p>
            <a:pPr algn="just"/>
            <a:r>
              <a:rPr lang="en-US" b="0" i="0" dirty="0">
                <a:solidFill>
                  <a:srgbClr val="000000"/>
                </a:solidFill>
                <a:effectLst/>
                <a:latin typeface="Trebuchet MS" panose="020B0603020202020204" pitchFamily="34" charset="0"/>
              </a:rPr>
              <a:t>The known interactions were gravity, modeled by </a:t>
            </a:r>
            <a:r>
              <a:rPr lang="en-US" b="1" i="0" dirty="0">
                <a:solidFill>
                  <a:srgbClr val="FF0000"/>
                </a:solidFill>
                <a:effectLst/>
                <a:latin typeface="Trebuchet MS" panose="020B0603020202020204" pitchFamily="34" charset="0"/>
              </a:rPr>
              <a:t>Newton's law of gravitation</a:t>
            </a:r>
            <a:r>
              <a:rPr lang="en-US" b="0" i="0" dirty="0">
                <a:solidFill>
                  <a:srgbClr val="000000"/>
                </a:solidFill>
                <a:effectLst/>
                <a:latin typeface="Trebuchet MS" panose="020B0603020202020204" pitchFamily="34" charset="0"/>
              </a:rPr>
              <a:t>, electromagnetic interactions, modeled by </a:t>
            </a:r>
            <a:r>
              <a:rPr lang="en-US" b="1" i="0" dirty="0">
                <a:solidFill>
                  <a:srgbClr val="FF0000"/>
                </a:solidFill>
                <a:effectLst/>
                <a:latin typeface="Trebuchet MS" panose="020B0603020202020204" pitchFamily="34" charset="0"/>
              </a:rPr>
              <a:t>Maxwell's equations</a:t>
            </a:r>
            <a:r>
              <a:rPr lang="en-US" b="0" i="0" dirty="0">
                <a:solidFill>
                  <a:srgbClr val="000000"/>
                </a:solidFill>
                <a:effectLst/>
                <a:latin typeface="Trebuchet MS" panose="020B0603020202020204" pitchFamily="34" charset="0"/>
              </a:rPr>
              <a:t>, and </a:t>
            </a:r>
            <a:r>
              <a:rPr lang="en-US" b="1" i="0" dirty="0">
                <a:solidFill>
                  <a:srgbClr val="FF0000"/>
                </a:solidFill>
                <a:effectLst/>
                <a:latin typeface="Trebuchet MS" panose="020B0603020202020204" pitchFamily="34" charset="0"/>
              </a:rPr>
              <a:t>contact force </a:t>
            </a:r>
            <a:r>
              <a:rPr lang="en-US" b="0" i="0" dirty="0">
                <a:solidFill>
                  <a:srgbClr val="000000"/>
                </a:solidFill>
                <a:effectLst/>
                <a:latin typeface="Trebuchet MS" panose="020B0603020202020204" pitchFamily="34" charset="0"/>
              </a:rPr>
              <a:t>arising from the requirement that "atoms need their space".</a:t>
            </a:r>
          </a:p>
          <a:p>
            <a:pPr algn="just"/>
            <a:br>
              <a:rPr lang="en-US" dirty="0"/>
            </a:br>
            <a:r>
              <a:rPr lang="en-US" b="0" i="0" dirty="0">
                <a:solidFill>
                  <a:srgbClr val="000000"/>
                </a:solidFill>
                <a:effectLst/>
                <a:latin typeface="Trebuchet MS" panose="020B0603020202020204" pitchFamily="34" charset="0"/>
              </a:rPr>
              <a:t>Consequences of the interactions were described by </a:t>
            </a:r>
            <a:r>
              <a:rPr lang="en-US" b="1" i="0" dirty="0">
                <a:solidFill>
                  <a:srgbClr val="FF0000"/>
                </a:solidFill>
                <a:effectLst/>
                <a:latin typeface="Trebuchet MS" panose="020B0603020202020204" pitchFamily="34" charset="0"/>
              </a:rPr>
              <a:t>Newton's laws of motion,</a:t>
            </a:r>
            <a:r>
              <a:rPr lang="en-US" b="0" i="0" dirty="0">
                <a:solidFill>
                  <a:srgbClr val="000000"/>
                </a:solidFill>
                <a:effectLst/>
                <a:latin typeface="Trebuchet MS" panose="020B0603020202020204" pitchFamily="34" charset="0"/>
              </a:rPr>
              <a:t> which predict how matter behaves when acted on by forces.  Statistical physics and thermodynamics were developed for describing systems with a large number of degrees of freedom.</a:t>
            </a:r>
            <a:endParaRPr lang="en-US" dirty="0"/>
          </a:p>
        </p:txBody>
      </p:sp>
    </p:spTree>
    <p:extLst>
      <p:ext uri="{BB962C8B-B14F-4D97-AF65-F5344CB8AC3E}">
        <p14:creationId xmlns:p14="http://schemas.microsoft.com/office/powerpoint/2010/main" val="3837704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934B43-BA94-5715-0FCF-6D9D7DBEA54A}"/>
              </a:ext>
            </a:extLst>
          </p:cNvPr>
          <p:cNvSpPr txBox="1"/>
          <p:nvPr/>
        </p:nvSpPr>
        <p:spPr>
          <a:xfrm>
            <a:off x="404566" y="16497"/>
            <a:ext cx="8305800" cy="923330"/>
          </a:xfrm>
          <a:prstGeom prst="rect">
            <a:avLst/>
          </a:prstGeom>
          <a:noFill/>
        </p:spPr>
        <p:txBody>
          <a:bodyPr wrap="square">
            <a:spAutoFit/>
          </a:bodyPr>
          <a:lstStyle/>
          <a:p>
            <a:pPr algn="just"/>
            <a:r>
              <a:rPr lang="en-US" b="1" i="0" dirty="0">
                <a:solidFill>
                  <a:srgbClr val="FF0000"/>
                </a:solidFill>
                <a:effectLst/>
                <a:latin typeface="Trebuchet MS" panose="020B0603020202020204" pitchFamily="34" charset="0"/>
              </a:rPr>
              <a:t>Modern Physics</a:t>
            </a:r>
            <a:r>
              <a:rPr lang="en-US" b="0" i="0" dirty="0">
                <a:solidFill>
                  <a:srgbClr val="000000"/>
                </a:solidFill>
                <a:effectLst/>
                <a:latin typeface="Trebuchet MS" panose="020B0603020202020204" pitchFamily="34" charset="0"/>
              </a:rPr>
              <a:t> is the physics of the 20</a:t>
            </a:r>
            <a:r>
              <a:rPr lang="en-US" b="0" i="0" baseline="30000" dirty="0">
                <a:solidFill>
                  <a:srgbClr val="000000"/>
                </a:solidFill>
                <a:effectLst/>
                <a:latin typeface="Trebuchet MS" panose="020B0603020202020204" pitchFamily="34" charset="0"/>
              </a:rPr>
              <a:t>th</a:t>
            </a:r>
            <a:r>
              <a:rPr lang="en-US" b="0" i="0" dirty="0">
                <a:solidFill>
                  <a:srgbClr val="000000"/>
                </a:solidFill>
                <a:effectLst/>
                <a:latin typeface="Trebuchet MS" panose="020B0603020202020204" pitchFamily="34" charset="0"/>
              </a:rPr>
              <a:t> century.  The main building blocks, the </a:t>
            </a:r>
            <a:r>
              <a:rPr lang="en-US" b="1" i="0" dirty="0">
                <a:solidFill>
                  <a:srgbClr val="FF0000"/>
                </a:solidFill>
                <a:effectLst/>
                <a:latin typeface="Trebuchet MS" panose="020B0603020202020204" pitchFamily="34" charset="0"/>
              </a:rPr>
              <a:t>theory of relativity</a:t>
            </a:r>
            <a:r>
              <a:rPr lang="en-US" b="0" i="0" dirty="0">
                <a:solidFill>
                  <a:srgbClr val="000000"/>
                </a:solidFill>
                <a:effectLst/>
                <a:latin typeface="Trebuchet MS" panose="020B0603020202020204" pitchFamily="34" charset="0"/>
              </a:rPr>
              <a:t> and </a:t>
            </a:r>
            <a:r>
              <a:rPr lang="en-US" b="1" i="0" dirty="0">
                <a:solidFill>
                  <a:srgbClr val="FF0000"/>
                </a:solidFill>
                <a:effectLst/>
                <a:latin typeface="Trebuchet MS" panose="020B0603020202020204" pitchFamily="34" charset="0"/>
              </a:rPr>
              <a:t>quantum mechanics</a:t>
            </a:r>
            <a:r>
              <a:rPr lang="en-US" b="0" i="0" dirty="0">
                <a:solidFill>
                  <a:srgbClr val="000000"/>
                </a:solidFill>
                <a:effectLst/>
                <a:latin typeface="Trebuchet MS" panose="020B0603020202020204" pitchFamily="34" charset="0"/>
              </a:rPr>
              <a:t>, were developed early in that century. </a:t>
            </a:r>
          </a:p>
        </p:txBody>
      </p:sp>
      <p:sp>
        <p:nvSpPr>
          <p:cNvPr id="4" name="TextBox 3">
            <a:extLst>
              <a:ext uri="{FF2B5EF4-FFF2-40B4-BE49-F238E27FC236}">
                <a16:creationId xmlns:a16="http://schemas.microsoft.com/office/drawing/2014/main" id="{7CBD860B-E22A-2C8A-A98F-6B3B98987A4A}"/>
              </a:ext>
            </a:extLst>
          </p:cNvPr>
          <p:cNvSpPr txBox="1"/>
          <p:nvPr/>
        </p:nvSpPr>
        <p:spPr>
          <a:xfrm>
            <a:off x="200319" y="1600200"/>
            <a:ext cx="8714294" cy="5062924"/>
          </a:xfrm>
          <a:prstGeom prst="rect">
            <a:avLst/>
          </a:prstGeom>
          <a:noFill/>
        </p:spPr>
        <p:txBody>
          <a:bodyPr wrap="square">
            <a:spAutoFit/>
          </a:bodyPr>
          <a:lstStyle/>
          <a:p>
            <a:pPr algn="just">
              <a:buFont typeface="+mj-lt"/>
              <a:buAutoNum type="arabicPeriod"/>
            </a:pPr>
            <a:r>
              <a:rPr lang="en-US" sz="1900" b="1" i="0" dirty="0">
                <a:solidFill>
                  <a:srgbClr val="0000FF"/>
                </a:solidFill>
                <a:effectLst/>
                <a:latin typeface="Söhne"/>
              </a:rPr>
              <a:t>The ultraviolet catastrophe: </a:t>
            </a:r>
            <a:r>
              <a:rPr lang="en-US" sz="1900" b="0" i="0" dirty="0">
                <a:solidFill>
                  <a:srgbClr val="374151"/>
                </a:solidFill>
                <a:effectLst/>
                <a:latin typeface="Söhne"/>
              </a:rPr>
              <a:t>According to classical physics, the energy emitted by a blackbody should increase indefinitely as the frequency of the radiation increases.</a:t>
            </a:r>
          </a:p>
          <a:p>
            <a:pPr algn="just">
              <a:buFont typeface="+mj-lt"/>
              <a:buAutoNum type="arabicPeriod"/>
            </a:pPr>
            <a:endParaRPr lang="en-US" sz="1900" dirty="0">
              <a:solidFill>
                <a:srgbClr val="374151"/>
              </a:solidFill>
              <a:latin typeface="Söhne"/>
            </a:endParaRPr>
          </a:p>
          <a:p>
            <a:pPr algn="just"/>
            <a:r>
              <a:rPr lang="en-US" sz="1900" b="0" i="0" dirty="0">
                <a:solidFill>
                  <a:srgbClr val="374151"/>
                </a:solidFill>
                <a:effectLst/>
                <a:latin typeface="Söhne"/>
              </a:rPr>
              <a:t> This means that at high frequencies, the radiation should have infinite energy, which is obviously not observed. This was known as the "ultraviolet catastrophe" because it predicted an infinite amount of energy in the ultraviolet range of the electromagnetic spectrum.</a:t>
            </a:r>
          </a:p>
          <a:p>
            <a:pPr algn="just"/>
            <a:endParaRPr lang="en-US" sz="1900" b="0" i="0" dirty="0">
              <a:solidFill>
                <a:srgbClr val="374151"/>
              </a:solidFill>
              <a:effectLst/>
              <a:latin typeface="Söhne"/>
            </a:endParaRPr>
          </a:p>
          <a:p>
            <a:pPr algn="just"/>
            <a:r>
              <a:rPr lang="en-US" sz="1900" b="1" dirty="0">
                <a:solidFill>
                  <a:srgbClr val="0000FF"/>
                </a:solidFill>
                <a:latin typeface="Söhne"/>
              </a:rPr>
              <a:t>2</a:t>
            </a:r>
            <a:r>
              <a:rPr lang="en-US" sz="1900" dirty="0">
                <a:solidFill>
                  <a:srgbClr val="374151"/>
                </a:solidFill>
                <a:latin typeface="Söhne"/>
              </a:rPr>
              <a:t>.</a:t>
            </a:r>
            <a:r>
              <a:rPr lang="en-US" sz="1900" b="1" i="0" dirty="0">
                <a:solidFill>
                  <a:srgbClr val="0000FF"/>
                </a:solidFill>
                <a:effectLst/>
                <a:latin typeface="Söhne"/>
              </a:rPr>
              <a:t>The photoelectric effect: </a:t>
            </a:r>
            <a:r>
              <a:rPr lang="en-US" sz="1900" b="0" i="0" dirty="0">
                <a:solidFill>
                  <a:srgbClr val="374151"/>
                </a:solidFill>
                <a:effectLst/>
                <a:latin typeface="Söhne"/>
              </a:rPr>
              <a:t>Another problem with classical physics was that it could not explain the photoelectric effect, which is the observation that electrons are emitted from a metal surface when it is exposed to light of a certain frequency. According to classical physics, the energy of the electrons emitted should increase as the intensity of the light increases, but this is not what is observed. Instead, the energy of the electrons depends only on the frequency of the light, which is not predicted by classical physics.</a:t>
            </a:r>
          </a:p>
          <a:p>
            <a:pPr algn="just"/>
            <a:r>
              <a:rPr lang="en-US" sz="1900" b="0" i="0" dirty="0">
                <a:solidFill>
                  <a:srgbClr val="374151"/>
                </a:solidFill>
                <a:effectLst/>
                <a:latin typeface="Söhne"/>
              </a:rPr>
              <a:t>These problems led to the development of quantum mechanics, which is a new framework for describing the behavior of matter and energy on a microscopic scale.</a:t>
            </a:r>
          </a:p>
        </p:txBody>
      </p:sp>
      <p:sp>
        <p:nvSpPr>
          <p:cNvPr id="7" name="TextBox 6">
            <a:extLst>
              <a:ext uri="{FF2B5EF4-FFF2-40B4-BE49-F238E27FC236}">
                <a16:creationId xmlns:a16="http://schemas.microsoft.com/office/drawing/2014/main" id="{AFDA6188-1744-2F9C-ED88-42B2A4936021}"/>
              </a:ext>
            </a:extLst>
          </p:cNvPr>
          <p:cNvSpPr txBox="1"/>
          <p:nvPr/>
        </p:nvSpPr>
        <p:spPr>
          <a:xfrm>
            <a:off x="319334" y="906333"/>
            <a:ext cx="8609813" cy="646331"/>
          </a:xfrm>
          <a:prstGeom prst="rect">
            <a:avLst/>
          </a:prstGeom>
          <a:noFill/>
        </p:spPr>
        <p:txBody>
          <a:bodyPr wrap="square">
            <a:spAutoFit/>
          </a:bodyPr>
          <a:lstStyle/>
          <a:p>
            <a:pPr algn="just"/>
            <a:r>
              <a:rPr lang="en-US" b="1" i="0" dirty="0">
                <a:solidFill>
                  <a:srgbClr val="0000FF"/>
                </a:solidFill>
                <a:effectLst/>
                <a:latin typeface="Söhne"/>
              </a:rPr>
              <a:t>THE TWO PROBLEMS WITH CLASSICAL PHYSICS THAT BECAME APPARENT AT THE END OF </a:t>
            </a:r>
          </a:p>
          <a:p>
            <a:pPr algn="just"/>
            <a:r>
              <a:rPr lang="en-US" b="1" i="0" dirty="0">
                <a:solidFill>
                  <a:srgbClr val="0000FF"/>
                </a:solidFill>
                <a:effectLst/>
                <a:latin typeface="Söhne"/>
              </a:rPr>
              <a:t>THE 19TH CENTURY WERE:-</a:t>
            </a:r>
            <a:endParaRPr lang="en-US" b="1" i="0" dirty="0">
              <a:solidFill>
                <a:srgbClr val="0000FF"/>
              </a:solidFill>
              <a:effectLst/>
              <a:latin typeface="Trebuchet MS" panose="020B0603020202020204" pitchFamily="34" charset="0"/>
            </a:endParaRPr>
          </a:p>
        </p:txBody>
      </p:sp>
    </p:spTree>
    <p:extLst>
      <p:ext uri="{BB962C8B-B14F-4D97-AF65-F5344CB8AC3E}">
        <p14:creationId xmlns:p14="http://schemas.microsoft.com/office/powerpoint/2010/main" val="1623611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82BC05-F156-A228-2215-AC5E0C85A43C}"/>
              </a:ext>
            </a:extLst>
          </p:cNvPr>
          <p:cNvPicPr>
            <a:picLocks noChangeAspect="1"/>
          </p:cNvPicPr>
          <p:nvPr/>
        </p:nvPicPr>
        <p:blipFill>
          <a:blip r:embed="rId2"/>
          <a:stretch>
            <a:fillRect/>
          </a:stretch>
        </p:blipFill>
        <p:spPr>
          <a:xfrm>
            <a:off x="1032098" y="87838"/>
            <a:ext cx="7045102" cy="2869210"/>
          </a:xfrm>
          <a:prstGeom prst="rect">
            <a:avLst/>
          </a:prstGeom>
        </p:spPr>
      </p:pic>
      <p:pic>
        <p:nvPicPr>
          <p:cNvPr id="5" name="Picture 4">
            <a:extLst>
              <a:ext uri="{FF2B5EF4-FFF2-40B4-BE49-F238E27FC236}">
                <a16:creationId xmlns:a16="http://schemas.microsoft.com/office/drawing/2014/main" id="{A57BB4D6-887A-57DA-7AD3-26B544ABA1DE}"/>
              </a:ext>
            </a:extLst>
          </p:cNvPr>
          <p:cNvPicPr>
            <a:picLocks noChangeAspect="1"/>
          </p:cNvPicPr>
          <p:nvPr/>
        </p:nvPicPr>
        <p:blipFill>
          <a:blip r:embed="rId3"/>
          <a:stretch>
            <a:fillRect/>
          </a:stretch>
        </p:blipFill>
        <p:spPr>
          <a:xfrm>
            <a:off x="1032098" y="2919308"/>
            <a:ext cx="7121302" cy="3867683"/>
          </a:xfrm>
          <a:prstGeom prst="rect">
            <a:avLst/>
          </a:prstGeom>
        </p:spPr>
      </p:pic>
    </p:spTree>
    <p:extLst>
      <p:ext uri="{BB962C8B-B14F-4D97-AF65-F5344CB8AC3E}">
        <p14:creationId xmlns:p14="http://schemas.microsoft.com/office/powerpoint/2010/main" val="2466014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C6253-87F0-A267-525C-C7269D6AF518}"/>
              </a:ext>
            </a:extLst>
          </p:cNvPr>
          <p:cNvSpPr txBox="1"/>
          <p:nvPr/>
        </p:nvSpPr>
        <p:spPr>
          <a:xfrm>
            <a:off x="304800" y="609600"/>
            <a:ext cx="8534400" cy="2585323"/>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Trebuchet MS" panose="020B0603020202020204" pitchFamily="34" charset="0"/>
              </a:rPr>
              <a:t>Einstein special theory of relativity resolves the conflict between Newton's laws of motion and Maxwell's equations.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FF0000"/>
              </a:solidFill>
              <a:latin typeface="Trebuchet MS" panose="020B0603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Trebuchet MS" panose="020B0603020202020204" pitchFamily="34" charset="0"/>
              </a:rPr>
              <a:t>Einstein proposed two postulates.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FF0000"/>
              </a:solidFill>
              <a:effectLst/>
            </a:endParaRPr>
          </a:p>
          <a:p>
            <a:pPr marL="400050" marR="0" lvl="0" indent="-400050" algn="just" defTabSz="914400" rtl="0" eaLnBrk="0" fontAlgn="base" latinLnBrk="0" hangingPunct="0">
              <a:lnSpc>
                <a:spcPct val="100000"/>
              </a:lnSpc>
              <a:spcBef>
                <a:spcPct val="0"/>
              </a:spcBef>
              <a:spcAft>
                <a:spcPct val="0"/>
              </a:spcAft>
              <a:buClrTx/>
              <a:buSzTx/>
              <a:buFontTx/>
              <a:buAutoNum type="romanUcPeriod"/>
              <a:tabLst/>
            </a:pPr>
            <a:r>
              <a:rPr kumimoji="0" lang="en-US" altLang="en-US" sz="1800" b="0" i="0" u="none" strike="noStrike" cap="none" normalizeH="0" baseline="0" dirty="0">
                <a:ln>
                  <a:noFill/>
                </a:ln>
                <a:solidFill>
                  <a:srgbClr val="000000"/>
                </a:solidFill>
                <a:effectLst/>
                <a:latin typeface="Trebuchet MS" panose="020B0603020202020204" pitchFamily="34" charset="0"/>
              </a:rPr>
              <a:t>The laws of nature are the same in all inertial reference frames.</a:t>
            </a:r>
          </a:p>
          <a:p>
            <a:pPr marR="0" lvl="0" algn="just" defTabSz="914400" rtl="0" eaLnBrk="0" fontAlgn="base" latinLnBrk="0" hangingPunct="0">
              <a:lnSpc>
                <a:spcPct val="100000"/>
              </a:lnSpc>
              <a:spcBef>
                <a:spcPct val="0"/>
              </a:spcBef>
              <a:spcAft>
                <a:spcPct val="0"/>
              </a:spcAft>
              <a:buClrTx/>
              <a:buSzTx/>
              <a:tabLst/>
            </a:pPr>
            <a:br>
              <a:rPr kumimoji="0" lang="en-US" altLang="en-US" sz="1800" b="0" i="0" u="none" strike="noStrike" cap="none" normalizeH="0" baseline="0" dirty="0">
                <a:ln>
                  <a:noFill/>
                </a:ln>
                <a:solidFill>
                  <a:srgbClr val="000000"/>
                </a:solidFill>
                <a:effectLst/>
                <a:latin typeface="Trebuchet MS" panose="020B0603020202020204" pitchFamily="34" charset="0"/>
              </a:rPr>
            </a:br>
            <a:r>
              <a:rPr kumimoji="0" lang="en-US" altLang="en-US" sz="1800" b="0" i="0" u="none" strike="noStrike" cap="none" normalizeH="0" baseline="0" dirty="0">
                <a:ln>
                  <a:noFill/>
                </a:ln>
                <a:solidFill>
                  <a:srgbClr val="000000"/>
                </a:solidFill>
                <a:effectLst/>
                <a:latin typeface="Trebuchet MS" panose="020B0603020202020204" pitchFamily="34" charset="0"/>
              </a:rPr>
              <a:t>II. In vacuum, light propagates with respect to any inertial frame and in all directions with the universal speed c. This speed is a constant of nature.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96926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1" y="76200"/>
            <a:ext cx="8534400" cy="6370975"/>
          </a:xfrm>
          <a:prstGeom prst="rect">
            <a:avLst/>
          </a:prstGeom>
          <a:noFill/>
        </p:spPr>
        <p:txBody>
          <a:bodyPr wrap="square" rtlCol="0">
            <a:spAutoFit/>
          </a:bodyPr>
          <a:lstStyle/>
          <a:p>
            <a:pPr algn="just"/>
            <a:r>
              <a:rPr lang="en-US" sz="2800" b="1" u="sng" dirty="0"/>
              <a:t>Introduction</a:t>
            </a:r>
            <a:r>
              <a:rPr lang="en-US" sz="2800" b="1" dirty="0"/>
              <a:t>:</a:t>
            </a:r>
          </a:p>
          <a:p>
            <a:pPr algn="just"/>
            <a:endParaRPr lang="en-US" sz="2000" dirty="0"/>
          </a:p>
          <a:p>
            <a:pPr algn="just"/>
            <a:r>
              <a:rPr lang="en-US" sz="2000" dirty="0"/>
              <a:t>	The theory of relativity was successfully described by Einstein in 1905. </a:t>
            </a:r>
          </a:p>
          <a:p>
            <a:pPr algn="just"/>
            <a:r>
              <a:rPr lang="en-US" sz="2000" dirty="0"/>
              <a:t>It was related to the relative motion of the objects or we can say it deals with the motion of object or observer moving with relative velocities </a:t>
            </a:r>
            <a:r>
              <a:rPr lang="en-US" sz="2000" dirty="0" err="1"/>
              <a:t>w.r.t</a:t>
            </a:r>
            <a:r>
              <a:rPr lang="en-US" sz="2000" dirty="0"/>
              <a:t>. each other.</a:t>
            </a:r>
          </a:p>
          <a:p>
            <a:pPr algn="just"/>
            <a:endParaRPr lang="en-US" sz="2000" dirty="0"/>
          </a:p>
          <a:p>
            <a:pPr algn="just"/>
            <a:r>
              <a:rPr lang="en-US" sz="2000" dirty="0"/>
              <a:t>	This theory has two parts:-</a:t>
            </a:r>
          </a:p>
          <a:p>
            <a:pPr marL="457200" lvl="0" indent="-457200" algn="just">
              <a:buAutoNum type="arabicPeriod"/>
            </a:pPr>
            <a:r>
              <a:rPr lang="en-US" sz="2000" b="1" dirty="0">
                <a:solidFill>
                  <a:srgbClr val="FF0000"/>
                </a:solidFill>
              </a:rPr>
              <a:t>Special Theory of Relativity </a:t>
            </a:r>
          </a:p>
          <a:p>
            <a:pPr marL="457200" lvl="0" indent="-457200" algn="just"/>
            <a:r>
              <a:rPr lang="en-US" sz="2000" dirty="0"/>
              <a:t>	(What is Spatial in it:- Object is moving constant velocity and the velocity of object will be comparable to the velocity of Light)</a:t>
            </a:r>
          </a:p>
          <a:p>
            <a:pPr lvl="0" algn="just"/>
            <a:endParaRPr lang="en-US" sz="2000" dirty="0"/>
          </a:p>
          <a:p>
            <a:pPr algn="just"/>
            <a:r>
              <a:rPr lang="en-US" sz="2000" dirty="0"/>
              <a:t>Special theory of relativity was formulated by A. Einstein in 1905. In this theory we deal with the relative motion of the objects, which are moving with constant velocity or are at rest </a:t>
            </a:r>
            <a:r>
              <a:rPr lang="en-US" sz="2000" dirty="0" err="1"/>
              <a:t>w.r.t</a:t>
            </a:r>
            <a:r>
              <a:rPr lang="en-US" sz="2000" dirty="0"/>
              <a:t>. one another. </a:t>
            </a:r>
            <a:r>
              <a:rPr lang="en-US" sz="2000" b="1" dirty="0"/>
              <a:t>The main aim of this theory was to solve the problem of absolute motion of bodies. </a:t>
            </a:r>
          </a:p>
          <a:p>
            <a:pPr algn="just"/>
            <a:endParaRPr lang="en-US" sz="2000" b="1" dirty="0"/>
          </a:p>
          <a:p>
            <a:pPr algn="just"/>
            <a:r>
              <a:rPr lang="en-US" sz="2000" b="1" dirty="0">
                <a:solidFill>
                  <a:srgbClr val="FF0000"/>
                </a:solidFill>
              </a:rPr>
              <a:t>2</a:t>
            </a:r>
            <a:r>
              <a:rPr lang="en-US" sz="2000" dirty="0">
                <a:solidFill>
                  <a:srgbClr val="FF0000"/>
                </a:solidFill>
              </a:rPr>
              <a:t>.    </a:t>
            </a:r>
            <a:r>
              <a:rPr lang="en-US" sz="2000" b="1" dirty="0">
                <a:solidFill>
                  <a:srgbClr val="FF0000"/>
                </a:solidFill>
              </a:rPr>
              <a:t>General Theory of Relativity</a:t>
            </a:r>
            <a:endParaRPr lang="en-US" sz="2000" b="1" dirty="0"/>
          </a:p>
          <a:p>
            <a:pPr algn="just"/>
            <a:r>
              <a:rPr lang="en-US" sz="2000" dirty="0"/>
              <a:t>But Einstein found that there is no absolute motion in free space.</a:t>
            </a:r>
          </a:p>
          <a:p>
            <a:pPr algn="just"/>
            <a:r>
              <a:rPr lang="en-US" sz="2000" dirty="0"/>
              <a:t>	In general theory of relativity (1915) we deal with the problem that involves frame of reference accelerated </a:t>
            </a:r>
            <a:r>
              <a:rPr lang="en-US" sz="2000" dirty="0" err="1"/>
              <a:t>w.r.t</a:t>
            </a:r>
            <a:r>
              <a:rPr lang="en-US" sz="2000" dirty="0"/>
              <a:t>. one another.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381000"/>
            <a:ext cx="5943600" cy="1323439"/>
          </a:xfrm>
          <a:prstGeom prst="rect">
            <a:avLst/>
          </a:prstGeom>
        </p:spPr>
        <p:txBody>
          <a:bodyPr wrap="square">
            <a:spAutoFit/>
          </a:bodyPr>
          <a:lstStyle/>
          <a:p>
            <a:pPr algn="just"/>
            <a:r>
              <a:rPr lang="en-US" sz="2000" b="1" dirty="0">
                <a:solidFill>
                  <a:srgbClr val="FF0000"/>
                </a:solidFill>
              </a:rPr>
              <a:t>There are two types of frames of reference:-</a:t>
            </a:r>
          </a:p>
          <a:p>
            <a:pPr algn="just"/>
            <a:endParaRPr lang="en-US" sz="2000" b="1" dirty="0">
              <a:solidFill>
                <a:srgbClr val="FF0000"/>
              </a:solidFill>
            </a:endParaRPr>
          </a:p>
          <a:p>
            <a:pPr lvl="0" algn="just"/>
            <a:r>
              <a:rPr lang="en-US" sz="2000" b="1" dirty="0">
                <a:solidFill>
                  <a:srgbClr val="FF0000"/>
                </a:solidFill>
              </a:rPr>
              <a:t>1. Inertial frame of reference</a:t>
            </a:r>
          </a:p>
          <a:p>
            <a:pPr lvl="0" algn="just"/>
            <a:r>
              <a:rPr lang="en-US" sz="2000" b="1" dirty="0">
                <a:solidFill>
                  <a:srgbClr val="FF0000"/>
                </a:solidFill>
              </a:rPr>
              <a:t>2. Non – inertial frame of reference</a:t>
            </a:r>
          </a:p>
        </p:txBody>
      </p:sp>
      <p:graphicFrame>
        <p:nvGraphicFramePr>
          <p:cNvPr id="3" name="Table 2"/>
          <p:cNvGraphicFramePr>
            <a:graphicFrameLocks noGrp="1"/>
          </p:cNvGraphicFramePr>
          <p:nvPr/>
        </p:nvGraphicFramePr>
        <p:xfrm>
          <a:off x="457200" y="2438400"/>
          <a:ext cx="8001001" cy="3200400"/>
        </p:xfrm>
        <a:graphic>
          <a:graphicData uri="http://schemas.openxmlformats.org/drawingml/2006/table">
            <a:tbl>
              <a:tblPr/>
              <a:tblGrid>
                <a:gridCol w="533401">
                  <a:extLst>
                    <a:ext uri="{9D8B030D-6E8A-4147-A177-3AD203B41FA5}">
                      <a16:colId xmlns:a16="http://schemas.microsoft.com/office/drawing/2014/main" val="20000"/>
                    </a:ext>
                  </a:extLst>
                </a:gridCol>
                <a:gridCol w="3792344">
                  <a:extLst>
                    <a:ext uri="{9D8B030D-6E8A-4147-A177-3AD203B41FA5}">
                      <a16:colId xmlns:a16="http://schemas.microsoft.com/office/drawing/2014/main" val="20001"/>
                    </a:ext>
                  </a:extLst>
                </a:gridCol>
                <a:gridCol w="3675256">
                  <a:extLst>
                    <a:ext uri="{9D8B030D-6E8A-4147-A177-3AD203B41FA5}">
                      <a16:colId xmlns:a16="http://schemas.microsoft.com/office/drawing/2014/main" val="20002"/>
                    </a:ext>
                  </a:extLst>
                </a:gridCol>
              </a:tblGrid>
              <a:tr h="381000">
                <a:tc>
                  <a:txBody>
                    <a:bodyPr/>
                    <a:lstStyle/>
                    <a:p>
                      <a:pPr marL="0" marR="0" algn="just">
                        <a:spcBef>
                          <a:spcPts val="0"/>
                        </a:spcBef>
                        <a:spcAft>
                          <a:spcPts val="0"/>
                        </a:spcAft>
                      </a:pPr>
                      <a:r>
                        <a:rPr lang="en-US" sz="1600" b="1" dirty="0">
                          <a:latin typeface="Times New Roman"/>
                          <a:ea typeface="Times New Roman"/>
                        </a:rPr>
                        <a:t>S. No.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600" b="1" dirty="0">
                          <a:latin typeface="Times New Roman"/>
                          <a:ea typeface="Times New Roman"/>
                        </a:rPr>
                        <a:t>Inertial Frame of Reference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600" b="1" dirty="0">
                          <a:latin typeface="Times New Roman"/>
                          <a:ea typeface="Times New Roman"/>
                        </a:rPr>
                        <a:t>Non – inertial Frame of Reference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8877">
                <a:tc>
                  <a:txBody>
                    <a:bodyPr/>
                    <a:lstStyle/>
                    <a:p>
                      <a:pPr marL="0" marR="0" algn="ctr">
                        <a:spcBef>
                          <a:spcPts val="0"/>
                        </a:spcBef>
                        <a:spcAft>
                          <a:spcPts val="0"/>
                        </a:spcAft>
                      </a:pPr>
                      <a:r>
                        <a:rPr lang="en-US" sz="1600" dirty="0">
                          <a:latin typeface="Times New Roman"/>
                          <a:ea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600" dirty="0">
                          <a:latin typeface="Times New Roman"/>
                          <a:ea typeface="Times New Roman"/>
                        </a:rPr>
                        <a:t>If in a given system a free object does not experience any acceleration or a force, the system is called the </a:t>
                      </a:r>
                      <a:r>
                        <a:rPr lang="en-US" sz="1600" b="1" i="1" dirty="0">
                          <a:latin typeface="Times New Roman"/>
                          <a:ea typeface="Times New Roman"/>
                        </a:rPr>
                        <a:t>inertial frame</a:t>
                      </a:r>
                      <a:r>
                        <a:rPr lang="en-US" sz="1600" dirty="0">
                          <a:latin typeface="Times New Roman"/>
                          <a:ea typeface="Times New Roman"/>
                        </a:rPr>
                        <a:t>. Any reference of frame that moves with the constant velocity relative to an inertial frame of reference is itself an inertial frame.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600" dirty="0">
                          <a:latin typeface="Times New Roman"/>
                          <a:ea typeface="Times New Roman"/>
                        </a:rPr>
                        <a:t>If we consider a free object in an accelerated frame, the object experiences acceleration or a force applied on it. Such a frame of reference is called </a:t>
                      </a:r>
                      <a:r>
                        <a:rPr lang="en-US" sz="1600" b="1" i="1" dirty="0">
                          <a:latin typeface="Times New Roman"/>
                          <a:ea typeface="Times New Roman"/>
                        </a:rPr>
                        <a:t>non – inertial frame</a:t>
                      </a:r>
                      <a:r>
                        <a:rPr lang="en-US" sz="1600" dirty="0">
                          <a:latin typeface="Times New Roman"/>
                          <a:ea typeface="Times New Roman"/>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0647">
                <a:tc>
                  <a:txBody>
                    <a:bodyPr/>
                    <a:lstStyle/>
                    <a:p>
                      <a:pPr marL="0" marR="0" algn="ctr">
                        <a:spcBef>
                          <a:spcPts val="0"/>
                        </a:spcBef>
                        <a:spcAft>
                          <a:spcPts val="0"/>
                        </a:spcAft>
                      </a:pPr>
                      <a:r>
                        <a:rPr lang="en-US" sz="1600">
                          <a:latin typeface="Times New Roman"/>
                          <a:ea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kern="1200" dirty="0">
                          <a:solidFill>
                            <a:schemeClr val="tx1"/>
                          </a:solidFill>
                          <a:latin typeface="+mn-lt"/>
                          <a:ea typeface="+mn-ea"/>
                          <a:cs typeface="+mn-cs"/>
                        </a:rPr>
                        <a:t>Newton</a:t>
                      </a:r>
                      <a:r>
                        <a:rPr lang="en-US" sz="1600" dirty="0">
                          <a:latin typeface="Times New Roman"/>
                          <a:ea typeface="Times New Roman"/>
                        </a:rPr>
                        <a:t>’s laws are found to be valid in these frames of references.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800" kern="1200" dirty="0">
                          <a:solidFill>
                            <a:schemeClr val="tx1"/>
                          </a:solidFill>
                          <a:latin typeface="+mn-lt"/>
                          <a:ea typeface="+mn-ea"/>
                          <a:cs typeface="+mn-cs"/>
                        </a:rPr>
                        <a:t>Newton</a:t>
                      </a:r>
                      <a:r>
                        <a:rPr lang="en-US" sz="1600" dirty="0">
                          <a:latin typeface="Times New Roman"/>
                          <a:ea typeface="Times New Roman"/>
                        </a:rPr>
                        <a:t>’s laws are not valid.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20969">
                <a:tc>
                  <a:txBody>
                    <a:bodyPr/>
                    <a:lstStyle/>
                    <a:p>
                      <a:pPr marL="0" marR="0" algn="ctr">
                        <a:spcBef>
                          <a:spcPts val="0"/>
                        </a:spcBef>
                        <a:spcAft>
                          <a:spcPts val="0"/>
                        </a:spcAft>
                      </a:pPr>
                      <a:r>
                        <a:rPr lang="en-US" sz="1600">
                          <a:latin typeface="Times New Roman"/>
                          <a:ea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600" b="1" dirty="0">
                          <a:latin typeface="Times New Roman"/>
                          <a:ea typeface="Times New Roman"/>
                        </a:rPr>
                        <a:t>Example: - </a:t>
                      </a:r>
                      <a:r>
                        <a:rPr lang="en-US" sz="1600" dirty="0">
                          <a:latin typeface="Times New Roman"/>
                          <a:ea typeface="Times New Roman"/>
                        </a:rPr>
                        <a:t>A passenger in a car, moving with uniform velocity experiences no force on him.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spcBef>
                          <a:spcPts val="0"/>
                        </a:spcBef>
                        <a:spcAft>
                          <a:spcPts val="0"/>
                        </a:spcAft>
                      </a:pPr>
                      <a:r>
                        <a:rPr lang="en-US" sz="1600" b="1" dirty="0">
                          <a:latin typeface="Times New Roman"/>
                          <a:ea typeface="Times New Roman"/>
                        </a:rPr>
                        <a:t>Example: - </a:t>
                      </a:r>
                      <a:r>
                        <a:rPr lang="en-US" sz="1600" dirty="0">
                          <a:latin typeface="Times New Roman"/>
                          <a:ea typeface="Times New Roman"/>
                        </a:rPr>
                        <a:t>A passenger in a car which is accelerating, experiences a push backward though no external force is applied on him.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81000"/>
            <a:ext cx="8382000" cy="5724644"/>
          </a:xfrm>
          <a:prstGeom prst="rect">
            <a:avLst/>
          </a:prstGeom>
          <a:noFill/>
        </p:spPr>
        <p:txBody>
          <a:bodyPr wrap="square" rtlCol="0">
            <a:spAutoFit/>
          </a:bodyPr>
          <a:lstStyle/>
          <a:p>
            <a:r>
              <a:rPr lang="en-US" sz="2400" b="1" u="sng" dirty="0"/>
              <a:t>Special Theory of Relativity</a:t>
            </a:r>
            <a:r>
              <a:rPr lang="en-US" sz="2400" b="1" dirty="0"/>
              <a:t>:</a:t>
            </a:r>
            <a:endParaRPr lang="en-US" sz="2400" dirty="0"/>
          </a:p>
          <a:p>
            <a:r>
              <a:rPr lang="en-US" dirty="0"/>
              <a:t>	The two basic </a:t>
            </a:r>
            <a:r>
              <a:rPr lang="en-US" b="1" i="1" dirty="0"/>
              <a:t>postulates</a:t>
            </a:r>
            <a:r>
              <a:rPr lang="en-US" dirty="0"/>
              <a:t> on which the theory rests may be stated in a precise form thus:</a:t>
            </a:r>
          </a:p>
          <a:p>
            <a:endParaRPr lang="en-US" dirty="0"/>
          </a:p>
          <a:p>
            <a:pPr marL="400050" indent="-400050" algn="just">
              <a:buAutoNum type="romanLcParenBoth"/>
            </a:pPr>
            <a:r>
              <a:rPr lang="en-US" b="1" dirty="0">
                <a:solidFill>
                  <a:srgbClr val="FF0000"/>
                </a:solidFill>
              </a:rPr>
              <a:t>The laws of physics all take the same identical form for all frames of reference in uniform relative motion, i.e., for all inertial frame of reference.</a:t>
            </a:r>
          </a:p>
          <a:p>
            <a:pPr marL="400050" indent="-400050" algn="just"/>
            <a:endParaRPr lang="en-US" dirty="0"/>
          </a:p>
          <a:p>
            <a:pPr algn="just"/>
            <a:r>
              <a:rPr lang="en-US" dirty="0"/>
              <a:t>    	This postulate follows from the absence of universal frame of reference. If the laws of physics were different for different observers in relative motion, the observers could find from these differences which of them were “stationary” in space and which were “moving”. But such a distinction does not exist, and the principle of relativity expresses this fact. </a:t>
            </a:r>
          </a:p>
          <a:p>
            <a:pPr algn="just"/>
            <a:endParaRPr lang="en-US" dirty="0"/>
          </a:p>
          <a:p>
            <a:pPr marL="400050" indent="-400050" algn="just">
              <a:buAutoNum type="romanLcParenBoth" startAt="2"/>
            </a:pPr>
            <a:r>
              <a:rPr lang="en-US" dirty="0"/>
              <a:t>This postulate is, also called as </a:t>
            </a:r>
            <a:r>
              <a:rPr lang="en-US" b="1" i="1" dirty="0"/>
              <a:t>principle of equivalence</a:t>
            </a:r>
            <a:r>
              <a:rPr lang="en-US" dirty="0"/>
              <a:t>. </a:t>
            </a:r>
          </a:p>
          <a:p>
            <a:pPr marL="400050" indent="-400050" algn="just"/>
            <a:endParaRPr lang="en-US" dirty="0"/>
          </a:p>
          <a:p>
            <a:pPr algn="just"/>
            <a:r>
              <a:rPr lang="en-US" dirty="0"/>
              <a:t>	</a:t>
            </a:r>
            <a:r>
              <a:rPr lang="en-US" b="1" dirty="0">
                <a:solidFill>
                  <a:srgbClr val="FF0000"/>
                </a:solidFill>
              </a:rPr>
              <a:t>The speed of light is constant in vacuum for all observers, i.e., speed of light is a universal constant. </a:t>
            </a:r>
            <a:r>
              <a:rPr lang="en-US" dirty="0"/>
              <a:t>The speed of light in vacuum neither depends on the direction of light nor the motion of the source and the observer. In other words, the speed of light in vacuum has the same value in all directions in all inertial frames of reference.</a:t>
            </a:r>
          </a:p>
          <a:p>
            <a:pPr algn="just"/>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p:spPr>
        <p:txBody>
          <a:bodyPr>
            <a:normAutofit fontScale="90000"/>
          </a:bodyPr>
          <a:lstStyle/>
          <a:p>
            <a:br>
              <a:rPr lang="en-US" b="1" u="sng" dirty="0"/>
            </a:br>
            <a:r>
              <a:rPr lang="en-US" b="1" u="sng" dirty="0"/>
              <a:t>Lorentz Transformations </a:t>
            </a:r>
            <a:r>
              <a:rPr lang="en-US" b="1" dirty="0"/>
              <a:t>:</a:t>
            </a:r>
            <a:r>
              <a:rPr lang="en-US" b="1" u="sng" dirty="0"/>
              <a:t> </a:t>
            </a:r>
            <a:br>
              <a:rPr lang="en-US" dirty="0"/>
            </a:br>
            <a:endParaRPr lang="en-US" dirty="0"/>
          </a:p>
        </p:txBody>
      </p:sp>
      <p:sp>
        <p:nvSpPr>
          <p:cNvPr id="3" name="Content Placeholder 2"/>
          <p:cNvSpPr>
            <a:spLocks noGrp="1"/>
          </p:cNvSpPr>
          <p:nvPr>
            <p:ph sz="half" idx="1"/>
          </p:nvPr>
        </p:nvSpPr>
        <p:spPr>
          <a:xfrm>
            <a:off x="304800" y="1219200"/>
            <a:ext cx="4191000" cy="2057400"/>
          </a:xfrm>
        </p:spPr>
        <p:txBody>
          <a:bodyPr>
            <a:normAutofit fontScale="40000" lnSpcReduction="20000"/>
          </a:bodyPr>
          <a:lstStyle/>
          <a:p>
            <a:pPr algn="just">
              <a:buNone/>
            </a:pPr>
            <a:r>
              <a:rPr lang="en-US" sz="4800" dirty="0"/>
              <a:t>	Consider two inertial frames of references S and S’. The frame S’ is moving with uniform velocity v </a:t>
            </a:r>
            <a:r>
              <a:rPr lang="en-US" sz="4800" dirty="0" err="1"/>
              <a:t>w.r.t</a:t>
            </a:r>
            <a:r>
              <a:rPr lang="en-US" sz="4800" dirty="0"/>
              <a:t>. S along +X direction such that Y and Z axes of both frames remains parallel to each other as shown in fig.5</a:t>
            </a:r>
          </a:p>
          <a:p>
            <a:endParaRPr lang="en-US" sz="4800" dirty="0"/>
          </a:p>
          <a:p>
            <a:endParaRPr lang="en-US" sz="4800" dirty="0"/>
          </a:p>
          <a:p>
            <a:endParaRPr lang="en-US" dirty="0"/>
          </a:p>
        </p:txBody>
      </p:sp>
      <p:grpSp>
        <p:nvGrpSpPr>
          <p:cNvPr id="36866" name="Group 2"/>
          <p:cNvGrpSpPr>
            <a:grpSpLocks/>
          </p:cNvGrpSpPr>
          <p:nvPr/>
        </p:nvGrpSpPr>
        <p:grpSpPr bwMode="auto">
          <a:xfrm>
            <a:off x="4800600" y="752475"/>
            <a:ext cx="3600450" cy="2600325"/>
            <a:chOff x="6120" y="4500"/>
            <a:chExt cx="4950" cy="3615"/>
          </a:xfrm>
        </p:grpSpPr>
        <p:sp>
          <p:nvSpPr>
            <p:cNvPr id="36867" name="Text Box 3"/>
            <p:cNvSpPr txBox="1">
              <a:spLocks noChangeArrowheads="1"/>
            </p:cNvSpPr>
            <p:nvPr/>
          </p:nvSpPr>
          <p:spPr bwMode="auto">
            <a:xfrm>
              <a:off x="9720" y="6675"/>
              <a:ext cx="90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X  X’</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68" name="Text Box 4"/>
            <p:cNvSpPr txBox="1">
              <a:spLocks noChangeArrowheads="1"/>
            </p:cNvSpPr>
            <p:nvPr/>
          </p:nvSpPr>
          <p:spPr bwMode="auto">
            <a:xfrm>
              <a:off x="9450" y="4860"/>
              <a:ext cx="1620" cy="72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Arial" pitchFamily="34" charset="0"/>
                </a:rPr>
                <a:t>P (x, y, z,t)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   (x’, y’, z’, t’)</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69" name="Text Box 5"/>
            <p:cNvSpPr txBox="1">
              <a:spLocks noChangeArrowheads="1"/>
            </p:cNvSpPr>
            <p:nvPr/>
          </p:nvSpPr>
          <p:spPr bwMode="auto">
            <a:xfrm>
              <a:off x="7020" y="4515"/>
              <a:ext cx="2340" cy="72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  S    Y        S’   Y’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                                v</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70" name="Text Box 6"/>
            <p:cNvSpPr txBox="1">
              <a:spLocks noChangeArrowheads="1"/>
            </p:cNvSpPr>
            <p:nvPr/>
          </p:nvSpPr>
          <p:spPr bwMode="auto">
            <a:xfrm>
              <a:off x="8280" y="6660"/>
              <a:ext cx="54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O’</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71" name="Text Box 7"/>
            <p:cNvSpPr txBox="1">
              <a:spLocks noChangeArrowheads="1"/>
            </p:cNvSpPr>
            <p:nvPr/>
          </p:nvSpPr>
          <p:spPr bwMode="auto">
            <a:xfrm>
              <a:off x="7395" y="6660"/>
              <a:ext cx="540" cy="36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O</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nvGrpSpPr>
            <p:cNvPr id="36872" name="Group 8"/>
            <p:cNvGrpSpPr>
              <a:grpSpLocks/>
            </p:cNvGrpSpPr>
            <p:nvPr/>
          </p:nvGrpSpPr>
          <p:grpSpPr bwMode="auto">
            <a:xfrm>
              <a:off x="6134" y="4695"/>
              <a:ext cx="3440" cy="2457"/>
              <a:chOff x="6494" y="4860"/>
              <a:chExt cx="3440" cy="2457"/>
            </a:xfrm>
          </p:grpSpPr>
          <p:sp>
            <p:nvSpPr>
              <p:cNvPr id="36873" name="Line 9"/>
              <p:cNvSpPr>
                <a:spLocks noChangeShapeType="1"/>
              </p:cNvSpPr>
              <p:nvPr/>
            </p:nvSpPr>
            <p:spPr bwMode="auto">
              <a:xfrm>
                <a:off x="7920" y="4860"/>
                <a:ext cx="0" cy="20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74" name="Line 10"/>
              <p:cNvSpPr>
                <a:spLocks noChangeShapeType="1"/>
              </p:cNvSpPr>
              <p:nvPr/>
            </p:nvSpPr>
            <p:spPr bwMode="auto">
              <a:xfrm rot="5400000">
                <a:off x="8925" y="5850"/>
                <a:ext cx="1" cy="20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75" name="Line 11"/>
              <p:cNvSpPr>
                <a:spLocks noChangeShapeType="1"/>
              </p:cNvSpPr>
              <p:nvPr/>
            </p:nvSpPr>
            <p:spPr bwMode="auto">
              <a:xfrm rot="3270357">
                <a:off x="7285" y="6525"/>
                <a:ext cx="1" cy="158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6876" name="Group 12"/>
            <p:cNvGrpSpPr>
              <a:grpSpLocks/>
            </p:cNvGrpSpPr>
            <p:nvPr/>
          </p:nvGrpSpPr>
          <p:grpSpPr bwMode="auto">
            <a:xfrm>
              <a:off x="7060" y="4695"/>
              <a:ext cx="3440" cy="2457"/>
              <a:chOff x="6494" y="4860"/>
              <a:chExt cx="3440" cy="2457"/>
            </a:xfrm>
          </p:grpSpPr>
          <p:sp>
            <p:nvSpPr>
              <p:cNvPr id="36877" name="Line 13"/>
              <p:cNvSpPr>
                <a:spLocks noChangeShapeType="1"/>
              </p:cNvSpPr>
              <p:nvPr/>
            </p:nvSpPr>
            <p:spPr bwMode="auto">
              <a:xfrm>
                <a:off x="7920" y="4860"/>
                <a:ext cx="0" cy="20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78" name="Line 14"/>
              <p:cNvSpPr>
                <a:spLocks noChangeShapeType="1"/>
              </p:cNvSpPr>
              <p:nvPr/>
            </p:nvSpPr>
            <p:spPr bwMode="auto">
              <a:xfrm rot="5400000">
                <a:off x="8925" y="5850"/>
                <a:ext cx="1" cy="20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79" name="Line 15"/>
              <p:cNvSpPr>
                <a:spLocks noChangeShapeType="1"/>
              </p:cNvSpPr>
              <p:nvPr/>
            </p:nvSpPr>
            <p:spPr bwMode="auto">
              <a:xfrm rot="3270357">
                <a:off x="7285" y="6525"/>
                <a:ext cx="1" cy="158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6880" name="Line 16"/>
            <p:cNvSpPr>
              <a:spLocks noChangeShapeType="1"/>
            </p:cNvSpPr>
            <p:nvPr/>
          </p:nvSpPr>
          <p:spPr bwMode="auto">
            <a:xfrm flipV="1">
              <a:off x="7560" y="4515"/>
              <a:ext cx="0" cy="36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6881" name="Line 17"/>
            <p:cNvSpPr>
              <a:spLocks noChangeShapeType="1"/>
            </p:cNvSpPr>
            <p:nvPr/>
          </p:nvSpPr>
          <p:spPr bwMode="auto">
            <a:xfrm flipV="1">
              <a:off x="8490" y="4500"/>
              <a:ext cx="0" cy="36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6882" name="Line 18"/>
            <p:cNvSpPr>
              <a:spLocks noChangeShapeType="1"/>
            </p:cNvSpPr>
            <p:nvPr/>
          </p:nvSpPr>
          <p:spPr bwMode="auto">
            <a:xfrm rot="605234" flipH="1">
              <a:off x="6120" y="7575"/>
              <a:ext cx="180" cy="1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6883" name="Line 19"/>
            <p:cNvSpPr>
              <a:spLocks noChangeShapeType="1"/>
            </p:cNvSpPr>
            <p:nvPr/>
          </p:nvSpPr>
          <p:spPr bwMode="auto">
            <a:xfrm rot="605234" flipH="1">
              <a:off x="7020" y="7575"/>
              <a:ext cx="180" cy="1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6884" name="Line 20"/>
            <p:cNvSpPr>
              <a:spLocks noChangeShapeType="1"/>
            </p:cNvSpPr>
            <p:nvPr/>
          </p:nvSpPr>
          <p:spPr bwMode="auto">
            <a:xfrm>
              <a:off x="10260" y="6690"/>
              <a:ext cx="36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6885" name="Line 21"/>
            <p:cNvSpPr>
              <a:spLocks noChangeShapeType="1"/>
            </p:cNvSpPr>
            <p:nvPr/>
          </p:nvSpPr>
          <p:spPr bwMode="auto">
            <a:xfrm>
              <a:off x="8475" y="4995"/>
              <a:ext cx="36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36886" name="Line 22"/>
            <p:cNvSpPr>
              <a:spLocks noChangeShapeType="1"/>
            </p:cNvSpPr>
            <p:nvPr/>
          </p:nvSpPr>
          <p:spPr bwMode="auto">
            <a:xfrm flipV="1">
              <a:off x="7560" y="5070"/>
              <a:ext cx="1980" cy="16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87" name="Line 23"/>
            <p:cNvSpPr>
              <a:spLocks noChangeShapeType="1"/>
            </p:cNvSpPr>
            <p:nvPr/>
          </p:nvSpPr>
          <p:spPr bwMode="auto">
            <a:xfrm rot="29440" flipH="1">
              <a:off x="8475" y="5070"/>
              <a:ext cx="1080" cy="16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88" name="Text Box 24"/>
            <p:cNvSpPr txBox="1">
              <a:spLocks noChangeArrowheads="1"/>
            </p:cNvSpPr>
            <p:nvPr/>
          </p:nvSpPr>
          <p:spPr bwMode="auto">
            <a:xfrm>
              <a:off x="8640" y="7035"/>
              <a:ext cx="162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At any time t</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36889" name="Text Box 25"/>
            <p:cNvSpPr txBox="1">
              <a:spLocks noChangeArrowheads="1"/>
            </p:cNvSpPr>
            <p:nvPr/>
          </p:nvSpPr>
          <p:spPr bwMode="auto">
            <a:xfrm>
              <a:off x="8460" y="7575"/>
              <a:ext cx="90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Fig.5</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sp>
        <p:nvSpPr>
          <p:cNvPr id="30" name="TextBox 29"/>
          <p:cNvSpPr txBox="1"/>
          <p:nvPr/>
        </p:nvSpPr>
        <p:spPr>
          <a:xfrm>
            <a:off x="136279" y="3581400"/>
            <a:ext cx="8779121" cy="2862322"/>
          </a:xfrm>
          <a:prstGeom prst="rect">
            <a:avLst/>
          </a:prstGeom>
          <a:noFill/>
        </p:spPr>
        <p:txBody>
          <a:bodyPr wrap="square" rtlCol="0">
            <a:spAutoFit/>
          </a:bodyPr>
          <a:lstStyle/>
          <a:p>
            <a:pPr algn="just"/>
            <a:r>
              <a:rPr lang="en-US" dirty="0"/>
              <a:t>Let t and t’ are the times of an event  measured by the observer sitting at the origin O and O’ of both frames respectively. For convenience let us assume that at t = t’ = 0 the origins O and O’ of frames S &amp; S’ are coincident.</a:t>
            </a:r>
          </a:p>
          <a:p>
            <a:pPr algn="just"/>
            <a:endParaRPr lang="en-US" dirty="0"/>
          </a:p>
          <a:p>
            <a:pPr algn="just"/>
            <a:r>
              <a:rPr lang="en-US" dirty="0"/>
              <a:t>Let a pulse of light is generated at time t = 0 at the origin which grows in the space. Now </a:t>
            </a:r>
          </a:p>
          <a:p>
            <a:pPr algn="just"/>
            <a:r>
              <a:rPr lang="en-US" dirty="0"/>
              <a:t>consider the situation when the pulse reaches at pt. P. Let (x, y, z, t) and (x’, y’, z’, t’) be the </a:t>
            </a:r>
          </a:p>
          <a:p>
            <a:pPr algn="just"/>
            <a:r>
              <a:rPr lang="en-US" dirty="0"/>
              <a:t>positions and time coordinates of P measured by observers O and O’ in frames S and S’</a:t>
            </a:r>
          </a:p>
          <a:p>
            <a:pPr algn="just"/>
            <a:r>
              <a:rPr lang="en-US" dirty="0"/>
              <a:t>respectively. When the pulse is observed from S, then we have  </a:t>
            </a:r>
          </a:p>
          <a:p>
            <a:pPr algn="just"/>
            <a:endParaRPr lang="en-US" dirty="0"/>
          </a:p>
          <a:p>
            <a:pPr algn="just"/>
            <a:r>
              <a:rPr lang="en-US" dirty="0"/>
              <a:t>   Velocity of light = distance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1" name="Picture 1"/>
          <p:cNvPicPr>
            <a:picLocks noChangeAspect="1" noChangeArrowheads="1"/>
          </p:cNvPicPr>
          <p:nvPr/>
        </p:nvPicPr>
        <p:blipFill>
          <a:blip r:embed="rId2"/>
          <a:srcRect/>
          <a:stretch>
            <a:fillRect/>
          </a:stretch>
        </p:blipFill>
        <p:spPr bwMode="auto">
          <a:xfrm>
            <a:off x="76200" y="914400"/>
            <a:ext cx="8318226" cy="5562600"/>
          </a:xfrm>
          <a:prstGeom prst="rect">
            <a:avLst/>
          </a:prstGeom>
          <a:noFill/>
          <a:ln w="9525">
            <a:noFill/>
            <a:miter lim="800000"/>
            <a:headEnd/>
            <a:tailEnd/>
          </a:ln>
          <a:effectLst/>
        </p:spPr>
      </p:pic>
      <p:grpSp>
        <p:nvGrpSpPr>
          <p:cNvPr id="4" name="Group 2"/>
          <p:cNvGrpSpPr>
            <a:grpSpLocks/>
          </p:cNvGrpSpPr>
          <p:nvPr/>
        </p:nvGrpSpPr>
        <p:grpSpPr bwMode="auto">
          <a:xfrm>
            <a:off x="5410200" y="304800"/>
            <a:ext cx="3600450" cy="2600325"/>
            <a:chOff x="6120" y="4500"/>
            <a:chExt cx="4950" cy="3615"/>
          </a:xfrm>
        </p:grpSpPr>
        <p:sp>
          <p:nvSpPr>
            <p:cNvPr id="5" name="Text Box 3"/>
            <p:cNvSpPr txBox="1">
              <a:spLocks noChangeArrowheads="1"/>
            </p:cNvSpPr>
            <p:nvPr/>
          </p:nvSpPr>
          <p:spPr bwMode="auto">
            <a:xfrm>
              <a:off x="9720" y="6675"/>
              <a:ext cx="90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X  X’</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 Box 4"/>
            <p:cNvSpPr txBox="1">
              <a:spLocks noChangeArrowheads="1"/>
            </p:cNvSpPr>
            <p:nvPr/>
          </p:nvSpPr>
          <p:spPr bwMode="auto">
            <a:xfrm>
              <a:off x="9450" y="4860"/>
              <a:ext cx="1620" cy="72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Times New Roman" pitchFamily="18" charset="0"/>
                  <a:cs typeface="Arial" pitchFamily="34" charset="0"/>
                </a:rPr>
                <a:t>P (x, y, z,t)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   (x’, y’, z’, t’)</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7" name="Text Box 5"/>
            <p:cNvSpPr txBox="1">
              <a:spLocks noChangeArrowheads="1"/>
            </p:cNvSpPr>
            <p:nvPr/>
          </p:nvSpPr>
          <p:spPr bwMode="auto">
            <a:xfrm>
              <a:off x="7020" y="4515"/>
              <a:ext cx="2340" cy="72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  S    Y        S’   Y’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                                v</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8" name="Text Box 6"/>
            <p:cNvSpPr txBox="1">
              <a:spLocks noChangeArrowheads="1"/>
            </p:cNvSpPr>
            <p:nvPr/>
          </p:nvSpPr>
          <p:spPr bwMode="auto">
            <a:xfrm>
              <a:off x="8280" y="6660"/>
              <a:ext cx="54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O’</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9" name="Text Box 7"/>
            <p:cNvSpPr txBox="1">
              <a:spLocks noChangeArrowheads="1"/>
            </p:cNvSpPr>
            <p:nvPr/>
          </p:nvSpPr>
          <p:spPr bwMode="auto">
            <a:xfrm>
              <a:off x="7395" y="6660"/>
              <a:ext cx="540" cy="36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O</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nvGrpSpPr>
            <p:cNvPr id="10" name="Group 8"/>
            <p:cNvGrpSpPr>
              <a:grpSpLocks/>
            </p:cNvGrpSpPr>
            <p:nvPr/>
          </p:nvGrpSpPr>
          <p:grpSpPr bwMode="auto">
            <a:xfrm>
              <a:off x="6134" y="4695"/>
              <a:ext cx="3440" cy="2457"/>
              <a:chOff x="6494" y="4860"/>
              <a:chExt cx="3440" cy="2457"/>
            </a:xfrm>
          </p:grpSpPr>
          <p:sp>
            <p:nvSpPr>
              <p:cNvPr id="25" name="Line 9"/>
              <p:cNvSpPr>
                <a:spLocks noChangeShapeType="1"/>
              </p:cNvSpPr>
              <p:nvPr/>
            </p:nvSpPr>
            <p:spPr bwMode="auto">
              <a:xfrm>
                <a:off x="7920" y="4860"/>
                <a:ext cx="0" cy="20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rot="5400000">
                <a:off x="8925" y="5850"/>
                <a:ext cx="1" cy="20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Line 11"/>
              <p:cNvSpPr>
                <a:spLocks noChangeShapeType="1"/>
              </p:cNvSpPr>
              <p:nvPr/>
            </p:nvSpPr>
            <p:spPr bwMode="auto">
              <a:xfrm rot="3270357">
                <a:off x="7285" y="6525"/>
                <a:ext cx="1" cy="158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1" name="Group 12"/>
            <p:cNvGrpSpPr>
              <a:grpSpLocks/>
            </p:cNvGrpSpPr>
            <p:nvPr/>
          </p:nvGrpSpPr>
          <p:grpSpPr bwMode="auto">
            <a:xfrm>
              <a:off x="7060" y="4695"/>
              <a:ext cx="3440" cy="2457"/>
              <a:chOff x="6494" y="4860"/>
              <a:chExt cx="3440" cy="2457"/>
            </a:xfrm>
          </p:grpSpPr>
          <p:sp>
            <p:nvSpPr>
              <p:cNvPr id="22" name="Line 13"/>
              <p:cNvSpPr>
                <a:spLocks noChangeShapeType="1"/>
              </p:cNvSpPr>
              <p:nvPr/>
            </p:nvSpPr>
            <p:spPr bwMode="auto">
              <a:xfrm>
                <a:off x="7920" y="4860"/>
                <a:ext cx="0" cy="20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Line 14"/>
              <p:cNvSpPr>
                <a:spLocks noChangeShapeType="1"/>
              </p:cNvSpPr>
              <p:nvPr/>
            </p:nvSpPr>
            <p:spPr bwMode="auto">
              <a:xfrm rot="5400000">
                <a:off x="8925" y="5850"/>
                <a:ext cx="1" cy="201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Line 15"/>
              <p:cNvSpPr>
                <a:spLocks noChangeShapeType="1"/>
              </p:cNvSpPr>
              <p:nvPr/>
            </p:nvSpPr>
            <p:spPr bwMode="auto">
              <a:xfrm rot="3270357">
                <a:off x="7285" y="6525"/>
                <a:ext cx="1" cy="1584"/>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2" name="Line 16"/>
            <p:cNvSpPr>
              <a:spLocks noChangeShapeType="1"/>
            </p:cNvSpPr>
            <p:nvPr/>
          </p:nvSpPr>
          <p:spPr bwMode="auto">
            <a:xfrm flipV="1">
              <a:off x="7560" y="4515"/>
              <a:ext cx="0" cy="36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3" name="Line 17"/>
            <p:cNvSpPr>
              <a:spLocks noChangeShapeType="1"/>
            </p:cNvSpPr>
            <p:nvPr/>
          </p:nvSpPr>
          <p:spPr bwMode="auto">
            <a:xfrm flipV="1">
              <a:off x="8490" y="4500"/>
              <a:ext cx="0" cy="36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 name="Line 18"/>
            <p:cNvSpPr>
              <a:spLocks noChangeShapeType="1"/>
            </p:cNvSpPr>
            <p:nvPr/>
          </p:nvSpPr>
          <p:spPr bwMode="auto">
            <a:xfrm rot="605234" flipH="1">
              <a:off x="6120" y="7575"/>
              <a:ext cx="180" cy="1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5" name="Line 19"/>
            <p:cNvSpPr>
              <a:spLocks noChangeShapeType="1"/>
            </p:cNvSpPr>
            <p:nvPr/>
          </p:nvSpPr>
          <p:spPr bwMode="auto">
            <a:xfrm rot="605234" flipH="1">
              <a:off x="7020" y="7575"/>
              <a:ext cx="180" cy="1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6" name="Line 20"/>
            <p:cNvSpPr>
              <a:spLocks noChangeShapeType="1"/>
            </p:cNvSpPr>
            <p:nvPr/>
          </p:nvSpPr>
          <p:spPr bwMode="auto">
            <a:xfrm>
              <a:off x="10260" y="6690"/>
              <a:ext cx="36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7" name="Line 21"/>
            <p:cNvSpPr>
              <a:spLocks noChangeShapeType="1"/>
            </p:cNvSpPr>
            <p:nvPr/>
          </p:nvSpPr>
          <p:spPr bwMode="auto">
            <a:xfrm>
              <a:off x="8475" y="4995"/>
              <a:ext cx="36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8" name="Line 22"/>
            <p:cNvSpPr>
              <a:spLocks noChangeShapeType="1"/>
            </p:cNvSpPr>
            <p:nvPr/>
          </p:nvSpPr>
          <p:spPr bwMode="auto">
            <a:xfrm flipV="1">
              <a:off x="7560" y="5070"/>
              <a:ext cx="1980" cy="16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Line 23"/>
            <p:cNvSpPr>
              <a:spLocks noChangeShapeType="1"/>
            </p:cNvSpPr>
            <p:nvPr/>
          </p:nvSpPr>
          <p:spPr bwMode="auto">
            <a:xfrm rot="29440" flipH="1">
              <a:off x="8475" y="5070"/>
              <a:ext cx="1080" cy="16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Text Box 24"/>
            <p:cNvSpPr txBox="1">
              <a:spLocks noChangeArrowheads="1"/>
            </p:cNvSpPr>
            <p:nvPr/>
          </p:nvSpPr>
          <p:spPr bwMode="auto">
            <a:xfrm>
              <a:off x="8640" y="7035"/>
              <a:ext cx="162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At any time t</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1" name="Text Box 25"/>
            <p:cNvSpPr txBox="1">
              <a:spLocks noChangeArrowheads="1"/>
            </p:cNvSpPr>
            <p:nvPr/>
          </p:nvSpPr>
          <p:spPr bwMode="auto">
            <a:xfrm>
              <a:off x="8460" y="7575"/>
              <a:ext cx="900"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a:ln>
                    <a:noFill/>
                  </a:ln>
                  <a:solidFill>
                    <a:schemeClr val="tx1"/>
                  </a:solidFill>
                  <a:effectLst/>
                  <a:latin typeface="Calibri" pitchFamily="34" charset="0"/>
                  <a:cs typeface="Arial" pitchFamily="34" charset="0"/>
                </a:rPr>
                <a:t>Fig.5</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1"/>
          <p:cNvPicPr>
            <a:picLocks noChangeAspect="1" noChangeArrowheads="1"/>
          </p:cNvPicPr>
          <p:nvPr/>
        </p:nvPicPr>
        <p:blipFill>
          <a:blip r:embed="rId2"/>
          <a:srcRect/>
          <a:stretch>
            <a:fillRect/>
          </a:stretch>
        </p:blipFill>
        <p:spPr bwMode="auto">
          <a:xfrm>
            <a:off x="1143000" y="152400"/>
            <a:ext cx="7772400" cy="6520113"/>
          </a:xfrm>
          <a:prstGeom prst="rect">
            <a:avLst/>
          </a:prstGeom>
          <a:noFill/>
          <a:ln w="9525">
            <a:noFill/>
            <a:miter lim="800000"/>
            <a:headEnd/>
            <a:tailEnd/>
          </a:ln>
          <a:effectLst/>
        </p:spPr>
      </p:pic>
      <p:pic>
        <p:nvPicPr>
          <p:cNvPr id="7170" name="Picture 2"/>
          <p:cNvPicPr>
            <a:picLocks noChangeAspect="1" noChangeArrowheads="1"/>
          </p:cNvPicPr>
          <p:nvPr/>
        </p:nvPicPr>
        <p:blipFill>
          <a:blip r:embed="rId3"/>
          <a:srcRect/>
          <a:stretch>
            <a:fillRect/>
          </a:stretch>
        </p:blipFill>
        <p:spPr bwMode="auto">
          <a:xfrm>
            <a:off x="0" y="1"/>
            <a:ext cx="1524000" cy="419746"/>
          </a:xfrm>
          <a:prstGeom prst="rect">
            <a:avLst/>
          </a:prstGeom>
          <a:noFill/>
          <a:ln w="9525">
            <a:noFill/>
            <a:miter lim="800000"/>
            <a:headEnd/>
            <a:tailEnd/>
          </a:ln>
          <a:effectLst/>
        </p:spPr>
      </p:pic>
      <p:pic>
        <p:nvPicPr>
          <p:cNvPr id="3" name="Picture 2">
            <a:extLst>
              <a:ext uri="{FF2B5EF4-FFF2-40B4-BE49-F238E27FC236}">
                <a16:creationId xmlns:a16="http://schemas.microsoft.com/office/drawing/2014/main" id="{6F8E1C15-B98B-D672-4E3B-E2B5F8F8AB72}"/>
              </a:ext>
            </a:extLst>
          </p:cNvPr>
          <p:cNvPicPr>
            <a:picLocks noChangeAspect="1"/>
          </p:cNvPicPr>
          <p:nvPr/>
        </p:nvPicPr>
        <p:blipFill>
          <a:blip r:embed="rId4"/>
          <a:stretch>
            <a:fillRect/>
          </a:stretch>
        </p:blipFill>
        <p:spPr>
          <a:xfrm>
            <a:off x="2438400" y="1609912"/>
            <a:ext cx="3733800" cy="2379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1"/>
          <p:cNvPicPr>
            <a:picLocks noChangeAspect="1" noChangeArrowheads="1"/>
          </p:cNvPicPr>
          <p:nvPr/>
        </p:nvPicPr>
        <p:blipFill>
          <a:blip r:embed="rId2"/>
          <a:srcRect/>
          <a:stretch>
            <a:fillRect/>
          </a:stretch>
        </p:blipFill>
        <p:spPr bwMode="auto">
          <a:xfrm>
            <a:off x="152400" y="152400"/>
            <a:ext cx="8829675" cy="5943600"/>
          </a:xfrm>
          <a:prstGeom prst="rect">
            <a:avLst/>
          </a:prstGeom>
          <a:noFill/>
          <a:ln w="9525">
            <a:noFill/>
            <a:miter lim="800000"/>
            <a:headEnd/>
            <a:tailEnd/>
          </a:ln>
          <a:effectLst/>
        </p:spPr>
      </p:pic>
      <p:pic>
        <p:nvPicPr>
          <p:cNvPr id="5122" name="Picture 2"/>
          <p:cNvPicPr>
            <a:picLocks noChangeAspect="1" noChangeArrowheads="1"/>
          </p:cNvPicPr>
          <p:nvPr/>
        </p:nvPicPr>
        <p:blipFill>
          <a:blip r:embed="rId3"/>
          <a:srcRect/>
          <a:stretch>
            <a:fillRect/>
          </a:stretch>
        </p:blipFill>
        <p:spPr bwMode="auto">
          <a:xfrm>
            <a:off x="3200400" y="6096000"/>
            <a:ext cx="1771650" cy="7620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a:srcRect/>
          <a:stretch>
            <a:fillRect/>
          </a:stretch>
        </p:blipFill>
        <p:spPr bwMode="auto">
          <a:xfrm>
            <a:off x="6096000" y="1676400"/>
            <a:ext cx="2895600" cy="372918"/>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Picture 1"/>
          <p:cNvPicPr>
            <a:picLocks noChangeAspect="1" noChangeArrowheads="1"/>
          </p:cNvPicPr>
          <p:nvPr/>
        </p:nvPicPr>
        <p:blipFill>
          <a:blip r:embed="rId2"/>
          <a:srcRect/>
          <a:stretch>
            <a:fillRect/>
          </a:stretch>
        </p:blipFill>
        <p:spPr bwMode="auto">
          <a:xfrm>
            <a:off x="0" y="1190625"/>
            <a:ext cx="8658225" cy="714375"/>
          </a:xfrm>
          <a:prstGeom prst="rect">
            <a:avLst/>
          </a:prstGeom>
          <a:noFill/>
          <a:ln w="9525">
            <a:noFill/>
            <a:miter lim="800000"/>
            <a:headEnd/>
            <a:tailEnd/>
          </a:ln>
          <a:effectLst/>
        </p:spPr>
      </p:pic>
      <p:pic>
        <p:nvPicPr>
          <p:cNvPr id="12290" name="Picture 2"/>
          <p:cNvPicPr>
            <a:picLocks noChangeAspect="1" noChangeArrowheads="1"/>
          </p:cNvPicPr>
          <p:nvPr/>
        </p:nvPicPr>
        <p:blipFill>
          <a:blip r:embed="rId3"/>
          <a:srcRect/>
          <a:stretch>
            <a:fillRect/>
          </a:stretch>
        </p:blipFill>
        <p:spPr bwMode="auto">
          <a:xfrm>
            <a:off x="1828800" y="2238375"/>
            <a:ext cx="5486400" cy="3095625"/>
          </a:xfrm>
          <a:prstGeom prst="rect">
            <a:avLst/>
          </a:prstGeom>
          <a:noFill/>
          <a:ln w="9525">
            <a:noFill/>
            <a:miter lim="800000"/>
            <a:headEnd/>
            <a:tailEnd/>
          </a:ln>
          <a:effectLst/>
        </p:spPr>
      </p:pic>
      <p:sp>
        <p:nvSpPr>
          <p:cNvPr id="4" name="TextBox 3"/>
          <p:cNvSpPr txBox="1"/>
          <p:nvPr/>
        </p:nvSpPr>
        <p:spPr>
          <a:xfrm>
            <a:off x="914400" y="152400"/>
            <a:ext cx="7055586" cy="584775"/>
          </a:xfrm>
          <a:prstGeom prst="rect">
            <a:avLst/>
          </a:prstGeom>
          <a:noFill/>
        </p:spPr>
        <p:txBody>
          <a:bodyPr wrap="none" rtlCol="0">
            <a:spAutoFit/>
          </a:bodyPr>
          <a:lstStyle/>
          <a:p>
            <a:r>
              <a:rPr lang="en-US" sz="3200" b="1" u="sng" dirty="0">
                <a:solidFill>
                  <a:srgbClr val="FF0000"/>
                </a:solidFill>
              </a:rPr>
              <a:t>Inverse Lorentz transformation equation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p:cNvPicPr>
            <a:picLocks noChangeAspect="1" noChangeArrowheads="1"/>
          </p:cNvPicPr>
          <p:nvPr/>
        </p:nvPicPr>
        <p:blipFill>
          <a:blip r:embed="rId2"/>
          <a:srcRect/>
          <a:stretch>
            <a:fillRect/>
          </a:stretch>
        </p:blipFill>
        <p:spPr bwMode="auto">
          <a:xfrm>
            <a:off x="219075" y="2409825"/>
            <a:ext cx="8696325" cy="3838575"/>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1600200" y="576671"/>
            <a:ext cx="6162675" cy="1785529"/>
          </a:xfrm>
          <a:prstGeom prst="rect">
            <a:avLst/>
          </a:prstGeom>
          <a:noFill/>
          <a:ln w="9525">
            <a:noFill/>
            <a:miter lim="800000"/>
            <a:headEnd/>
            <a:tailEnd/>
          </a:ln>
          <a:effectLst/>
        </p:spPr>
      </p:pic>
      <p:sp>
        <p:nvSpPr>
          <p:cNvPr id="6" name="Rectangle 5"/>
          <p:cNvSpPr/>
          <p:nvPr/>
        </p:nvSpPr>
        <p:spPr>
          <a:xfrm>
            <a:off x="1822696" y="0"/>
            <a:ext cx="5568704" cy="584775"/>
          </a:xfrm>
          <a:prstGeom prst="rect">
            <a:avLst/>
          </a:prstGeom>
        </p:spPr>
        <p:txBody>
          <a:bodyPr wrap="none">
            <a:spAutoFit/>
          </a:bodyPr>
          <a:lstStyle/>
          <a:p>
            <a:r>
              <a:rPr lang="en-US" sz="3200" b="1" dirty="0">
                <a:solidFill>
                  <a:srgbClr val="FF0000"/>
                </a:solidFill>
              </a:rPr>
              <a:t>Special cases of L.T. equitation's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
          <p:cNvPicPr>
            <a:picLocks noChangeAspect="1" noChangeArrowheads="1"/>
          </p:cNvPicPr>
          <p:nvPr/>
        </p:nvPicPr>
        <p:blipFill>
          <a:blip r:embed="rId2"/>
          <a:srcRect/>
          <a:stretch>
            <a:fillRect/>
          </a:stretch>
        </p:blipFill>
        <p:spPr bwMode="auto">
          <a:xfrm>
            <a:off x="150263" y="762000"/>
            <a:ext cx="8843471" cy="5333999"/>
          </a:xfrm>
          <a:prstGeom prst="rect">
            <a:avLst/>
          </a:prstGeom>
          <a:noFill/>
          <a:ln w="9525">
            <a:noFill/>
            <a:miter lim="800000"/>
            <a:headEnd/>
            <a:tailEnd/>
          </a:ln>
          <a:effectLst/>
        </p:spPr>
      </p:pic>
      <p:pic>
        <p:nvPicPr>
          <p:cNvPr id="3" name="Picture 3"/>
          <p:cNvPicPr>
            <a:picLocks noChangeAspect="1" noChangeArrowheads="1"/>
          </p:cNvPicPr>
          <p:nvPr/>
        </p:nvPicPr>
        <p:blipFill>
          <a:blip r:embed="rId3"/>
          <a:srcRect/>
          <a:stretch>
            <a:fillRect/>
          </a:stretch>
        </p:blipFill>
        <p:spPr bwMode="auto">
          <a:xfrm>
            <a:off x="5410200" y="381000"/>
            <a:ext cx="3419475" cy="99073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a:srcRect/>
          <a:stretch>
            <a:fillRect/>
          </a:stretch>
        </p:blipFill>
        <p:spPr bwMode="auto">
          <a:xfrm>
            <a:off x="77102" y="1371600"/>
            <a:ext cx="8932308" cy="35814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7CA9AC-5D94-E031-065D-827D01C8D963}"/>
              </a:ext>
            </a:extLst>
          </p:cNvPr>
          <p:cNvSpPr txBox="1"/>
          <p:nvPr/>
        </p:nvSpPr>
        <p:spPr>
          <a:xfrm>
            <a:off x="114300" y="520932"/>
            <a:ext cx="8915400" cy="5755422"/>
          </a:xfrm>
          <a:prstGeom prst="rect">
            <a:avLst/>
          </a:prstGeom>
          <a:noFill/>
        </p:spPr>
        <p:txBody>
          <a:bodyPr wrap="square">
            <a:spAutoFit/>
          </a:bodyPr>
          <a:lstStyle/>
          <a:p>
            <a:pPr algn="just"/>
            <a:r>
              <a:rPr lang="en-US" sz="1600" dirty="0">
                <a:effectLst/>
                <a:latin typeface="Times New Roman" panose="02020603050405020304" pitchFamily="18" charset="0"/>
                <a:cs typeface="Times New Roman" panose="02020603050405020304" pitchFamily="18" charset="0"/>
              </a:rPr>
              <a:t>The Lorentz transformations are a set of equations that relate the space and time coordinates of events in different inertial frames of reference that move at a constant speed relative to each other. </a:t>
            </a:r>
            <a:r>
              <a:rPr lang="en-US" sz="1600" dirty="0">
                <a:latin typeface="Times New Roman" panose="02020603050405020304" pitchFamily="18" charset="0"/>
                <a:cs typeface="Times New Roman" panose="02020603050405020304" pitchFamily="18" charset="0"/>
              </a:rPr>
              <a:t>They are consistent with the postulates of special relativity, which state that the laws of physics are the same in all inertial frames and that the speed of light is constant in vacuum</a:t>
            </a:r>
            <a:r>
              <a:rPr lang="en-US" sz="1600" dirty="0">
                <a:effectLst/>
                <a:latin typeface="Times New Roman" panose="02020603050405020304" pitchFamily="18" charset="0"/>
                <a:cs typeface="Times New Roman" panose="02020603050405020304" pitchFamily="18" charset="0"/>
              </a:rPr>
              <a:t>.</a:t>
            </a:r>
          </a:p>
          <a:p>
            <a:pPr algn="just"/>
            <a:r>
              <a:rPr lang="en-US" sz="1600" b="1" dirty="0">
                <a:solidFill>
                  <a:srgbClr val="FF0000"/>
                </a:solidFill>
                <a:effectLst/>
                <a:latin typeface="Times New Roman" panose="02020603050405020304" pitchFamily="18" charset="0"/>
                <a:cs typeface="Times New Roman" panose="02020603050405020304" pitchFamily="18" charset="0"/>
              </a:rPr>
              <a:t>Some of the conclusions of the Lorentz transformations are:</a:t>
            </a:r>
          </a:p>
          <a:p>
            <a:pPr algn="just">
              <a:buFont typeface="Arial" panose="020B0604020202020204" pitchFamily="34" charset="0"/>
              <a:buChar char="•"/>
            </a:pPr>
            <a:r>
              <a:rPr lang="en-US" sz="1600" b="1" dirty="0">
                <a:effectLst/>
                <a:latin typeface="Times New Roman" panose="02020603050405020304" pitchFamily="18" charset="0"/>
                <a:cs typeface="Times New Roman" panose="02020603050405020304" pitchFamily="18" charset="0"/>
              </a:rPr>
              <a:t>Length contraction</a:t>
            </a:r>
            <a:r>
              <a:rPr lang="en-US" sz="1600" dirty="0">
                <a:effectLst/>
                <a:latin typeface="Times New Roman" panose="02020603050405020304" pitchFamily="18" charset="0"/>
                <a:cs typeface="Times New Roman" panose="02020603050405020304" pitchFamily="18" charset="0"/>
              </a:rPr>
              <a:t>: The length of an object moving along its direction of motion is shorter than its length at rest, as measured by an observer in a different frame. </a:t>
            </a:r>
            <a:r>
              <a:rPr lang="en-US" sz="1600" dirty="0">
                <a:latin typeface="Times New Roman" panose="02020603050405020304" pitchFamily="18" charset="0"/>
                <a:cs typeface="Times New Roman" panose="02020603050405020304" pitchFamily="18" charset="0"/>
              </a:rPr>
              <a:t>The factor by which the length contracts is called the Lorentz factor, given by γ = 1 √1 − v</a:t>
            </a:r>
            <a:r>
              <a:rPr lang="en-US" sz="1600" baseline="30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c</a:t>
            </a:r>
            <a:r>
              <a:rPr lang="en-US" sz="1600" baseline="30000"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 , where v is the relative speed of the frames and c is the speed of light</a:t>
            </a:r>
            <a:r>
              <a:rPr lang="en-US" sz="1600" b="1" baseline="30000" dirty="0">
                <a:latin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b="1" dirty="0">
                <a:effectLst/>
                <a:latin typeface="Times New Roman" panose="02020603050405020304" pitchFamily="18" charset="0"/>
                <a:cs typeface="Times New Roman" panose="02020603050405020304" pitchFamily="18" charset="0"/>
              </a:rPr>
              <a:t>Time dilation</a:t>
            </a:r>
            <a:r>
              <a:rPr lang="en-US" sz="1600" dirty="0">
                <a:effectLst/>
                <a:latin typeface="Times New Roman" panose="02020603050405020304" pitchFamily="18" charset="0"/>
                <a:cs typeface="Times New Roman" panose="02020603050405020304" pitchFamily="18" charset="0"/>
              </a:rPr>
              <a:t>: The time interval between two events occurring at the same location in a moving frame is longer than the time interval measured by an observer in a stationary frame. </a:t>
            </a:r>
            <a:r>
              <a:rPr lang="en-US" sz="1600" dirty="0">
                <a:latin typeface="Times New Roman" panose="02020603050405020304" pitchFamily="18" charset="0"/>
                <a:cs typeface="Times New Roman" panose="02020603050405020304" pitchFamily="18" charset="0"/>
              </a:rPr>
              <a:t>The factor by which the time dilates is also given by the Lorentz factor</a:t>
            </a:r>
            <a:r>
              <a:rPr lang="en-US" sz="1600" b="1" baseline="30000" dirty="0">
                <a:latin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b="1" dirty="0">
                <a:effectLst/>
                <a:latin typeface="Times New Roman" panose="02020603050405020304" pitchFamily="18" charset="0"/>
                <a:cs typeface="Times New Roman" panose="02020603050405020304" pitchFamily="18" charset="0"/>
              </a:rPr>
              <a:t>Relativity of simultaneity</a:t>
            </a:r>
            <a:r>
              <a:rPr lang="en-US" sz="1600" dirty="0">
                <a:effectLst/>
                <a:latin typeface="Times New Roman" panose="02020603050405020304" pitchFamily="18" charset="0"/>
                <a:cs typeface="Times New Roman" panose="02020603050405020304" pitchFamily="18" charset="0"/>
              </a:rPr>
              <a:t>: Two events that are simultaneous in one frame of reference may not be simultaneous in another frame. </a:t>
            </a:r>
            <a:r>
              <a:rPr lang="en-US" sz="1600" dirty="0">
                <a:latin typeface="Times New Roman" panose="02020603050405020304" pitchFamily="18" charset="0"/>
                <a:cs typeface="Times New Roman" panose="02020603050405020304" pitchFamily="18" charset="0"/>
              </a:rPr>
              <a:t>The difference in time between the events depends on the relative speed and distance between the frames</a:t>
            </a:r>
            <a:r>
              <a:rPr lang="en-US" sz="1600" b="1" baseline="30000" dirty="0">
                <a:latin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b="1" dirty="0">
                <a:effectLst/>
                <a:latin typeface="Times New Roman" panose="02020603050405020304" pitchFamily="18" charset="0"/>
                <a:cs typeface="Times New Roman" panose="02020603050405020304" pitchFamily="18" charset="0"/>
              </a:rPr>
              <a:t>Velocity addition</a:t>
            </a:r>
            <a:r>
              <a:rPr lang="en-US" sz="1600" dirty="0">
                <a:effectLst/>
                <a:latin typeface="Times New Roman" panose="02020603050405020304" pitchFamily="18" charset="0"/>
                <a:cs typeface="Times New Roman" panose="02020603050405020304" pitchFamily="18" charset="0"/>
              </a:rPr>
              <a:t>: The velocity of an object measured in one frame of reference is not simply added to or subtracted from the relative velocity of another frame. </a:t>
            </a:r>
            <a:r>
              <a:rPr lang="en-US" sz="1600" dirty="0">
                <a:latin typeface="Times New Roman" panose="02020603050405020304" pitchFamily="18" charset="0"/>
                <a:cs typeface="Times New Roman" panose="02020603050405020304" pitchFamily="18" charset="0"/>
              </a:rPr>
              <a:t>Instead, a more complicated formula involving the Lorentz factor and the speed of light is used to find the velocity of the object in another frame</a:t>
            </a:r>
            <a:r>
              <a:rPr lang="en-US" sz="1600" b="1" baseline="30000" dirty="0">
                <a:latin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600" b="1" dirty="0">
                <a:effectLst/>
                <a:latin typeface="Times New Roman" panose="02020603050405020304" pitchFamily="18" charset="0"/>
                <a:cs typeface="Times New Roman" panose="02020603050405020304" pitchFamily="18" charset="0"/>
              </a:rPr>
              <a:t>Mass-energy equivalence</a:t>
            </a:r>
            <a:r>
              <a:rPr lang="en-US" sz="1600" dirty="0">
                <a:effectLst/>
                <a:latin typeface="Times New Roman" panose="02020603050405020304" pitchFamily="18" charset="0"/>
                <a:cs typeface="Times New Roman" panose="02020603050405020304" pitchFamily="18" charset="0"/>
              </a:rPr>
              <a:t>: The mass of an object increases with its speed, as measured by an observer in a different frame. </a:t>
            </a:r>
            <a:r>
              <a:rPr lang="en-US" sz="1600" dirty="0">
                <a:latin typeface="Times New Roman" panose="02020603050405020304" pitchFamily="18" charset="0"/>
                <a:cs typeface="Times New Roman" panose="02020603050405020304" pitchFamily="18" charset="0"/>
              </a:rPr>
              <a:t>The increase in mass is related to the increase in kinetic energy by the famous equation E = mc2 , where E is the energy, m is the mass, and c is the speed of light</a:t>
            </a:r>
            <a:r>
              <a:rPr lang="en-US" sz="1600" b="1" baseline="30000" dirty="0">
                <a:latin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cs typeface="Times New Roman" panose="02020603050405020304" pitchFamily="18" charset="0"/>
            </a:endParaRPr>
          </a:p>
          <a:p>
            <a:pPr algn="just"/>
            <a:r>
              <a:rPr lang="en-US" sz="1600" dirty="0">
                <a:effectLst/>
                <a:latin typeface="Times New Roman" panose="02020603050405020304" pitchFamily="18" charset="0"/>
                <a:cs typeface="Times New Roman" panose="02020603050405020304" pitchFamily="18" charset="0"/>
              </a:rPr>
              <a:t>These conclusions have profound implications for our understanding of space and time, and challenge our common sense notions based on classical mechanics.</a:t>
            </a:r>
          </a:p>
        </p:txBody>
      </p:sp>
      <p:sp>
        <p:nvSpPr>
          <p:cNvPr id="4" name="TextBox 3">
            <a:extLst>
              <a:ext uri="{FF2B5EF4-FFF2-40B4-BE49-F238E27FC236}">
                <a16:creationId xmlns:a16="http://schemas.microsoft.com/office/drawing/2014/main" id="{37FF4A91-28A9-B0C8-8104-3D7DCD4BACC6}"/>
              </a:ext>
            </a:extLst>
          </p:cNvPr>
          <p:cNvSpPr txBox="1"/>
          <p:nvPr/>
        </p:nvSpPr>
        <p:spPr>
          <a:xfrm flipH="1">
            <a:off x="1905000" y="76200"/>
            <a:ext cx="6400800" cy="461665"/>
          </a:xfrm>
          <a:prstGeom prst="rect">
            <a:avLst/>
          </a:prstGeom>
          <a:noFill/>
        </p:spPr>
        <p:txBody>
          <a:bodyPr wrap="square" rtlCol="0">
            <a:spAutoFit/>
          </a:bodyPr>
          <a:lstStyle/>
          <a:p>
            <a:r>
              <a:rPr lang="en-IN" sz="2400" b="1" u="sng" dirty="0">
                <a:solidFill>
                  <a:srgbClr val="FF0000"/>
                </a:solidFill>
              </a:rPr>
              <a:t>Conclusions  of Lorentz transformations </a:t>
            </a:r>
            <a:endParaRPr lang="en-US" sz="2400" b="1" u="sng" dirty="0">
              <a:solidFill>
                <a:srgbClr val="FF0000"/>
              </a:solidFill>
            </a:endParaRPr>
          </a:p>
        </p:txBody>
      </p:sp>
    </p:spTree>
    <p:extLst>
      <p:ext uri="{BB962C8B-B14F-4D97-AF65-F5344CB8AC3E}">
        <p14:creationId xmlns:p14="http://schemas.microsoft.com/office/powerpoint/2010/main" val="3290110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63554</TotalTime>
  <Words>1772</Words>
  <Application>Microsoft Office PowerPoint</Application>
  <PresentationFormat>On-screen Show (4:3)</PresentationFormat>
  <Paragraphs>103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Söhne</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Lorentz Transformations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Dheeraj Bhardwaj</dc:creator>
  <cp:lastModifiedBy>Dheeraj Bhardwaj</cp:lastModifiedBy>
  <cp:revision>79</cp:revision>
  <dcterms:created xsi:type="dcterms:W3CDTF">2006-08-16T00:00:00Z</dcterms:created>
  <dcterms:modified xsi:type="dcterms:W3CDTF">2024-02-16T10:38:32Z</dcterms:modified>
</cp:coreProperties>
</file>