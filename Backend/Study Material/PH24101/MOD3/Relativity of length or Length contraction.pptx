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14" r:id="rId3"/>
    <p:sldId id="315" r:id="rId4"/>
    <p:sldId id="316" r:id="rId5"/>
    <p:sldId id="311" r:id="rId6"/>
    <p:sldId id="310" r:id="rId7"/>
    <p:sldId id="306" r:id="rId8"/>
    <p:sldId id="3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04FEB-9356-4BC7-BCAD-7ADA412392B3}" v="1" dt="2023-05-17T06:31:44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eeraj Bhardwaj" userId="c36dde824f30170c" providerId="LiveId" clId="{87204FEB-9356-4BC7-BCAD-7ADA412392B3}"/>
    <pc:docChg chg="addSld modSld">
      <pc:chgData name="Dheeraj Bhardwaj" userId="c36dde824f30170c" providerId="LiveId" clId="{87204FEB-9356-4BC7-BCAD-7ADA412392B3}" dt="2023-05-17T06:31:44.615" v="0"/>
      <pc:docMkLst>
        <pc:docMk/>
      </pc:docMkLst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06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10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11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14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15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16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23"/>
        </pc:sldMkLst>
      </pc:sldChg>
      <pc:sldChg chg="add">
        <pc:chgData name="Dheeraj Bhardwaj" userId="c36dde824f30170c" providerId="LiveId" clId="{87204FEB-9356-4BC7-BCAD-7ADA412392B3}" dt="2023-05-17T06:31:44.615" v="0"/>
        <pc:sldMkLst>
          <pc:docMk/>
          <pc:sldMk cId="0" sldId="32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B0D4-7813-0C1E-32F4-8DF840B72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31C5B-72B2-74CD-8DB6-38ADA826D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3D696-700E-8E57-DD69-2B476727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5ADAE-72B2-2F13-8A6A-BCCD05D5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37893-FC36-8E1D-24B9-93E77C86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6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8954-081D-FFDD-37F4-A6B01BA2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5648-7E1C-2AE7-360E-2EC94224B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EE7A2-1002-45C3-1C14-41CECAA0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506F-754A-4FC8-36BF-2A56C923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EC1E5-201A-D3B7-0837-C95966E8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0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4933-08C1-E641-382B-9BC0E1D5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1094D-CAD7-5154-A488-4154E1795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F8488-A2CF-B081-C325-B8513E37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B6E0-8BBE-9A0A-40A3-609865EB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2668E-83D0-24CA-9DF2-4C975795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0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FF0D-E056-9634-122C-8F1772EC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1BAE8-1964-971D-F3EF-8B7617A55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7D2CD-8E04-C102-3F2C-88DCF68F0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D0674-0493-1FCF-A634-E3CBCCAD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7E59B-3403-45A6-10BB-31C938ED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49E71-AF40-83BF-23D1-99655E3E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5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171A-F64A-2BC8-F100-059E8CC61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D9ABE-9AB9-96CA-61F6-1FEB9D3E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98284-0EA2-D694-695E-AE8F27FDB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55CE89-B64B-0F69-422D-A92ACB65A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807DD-6D16-62B8-4FCA-50450DB91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D1D76-7492-2227-7A33-E56D9578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24BFF-81E8-F68A-2D89-A816EDFA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ABC74-6EAF-CF38-7AE5-A9E6262A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1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389C-B86B-2D65-598A-CAC2A943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9E69E-2C95-C3D3-F91A-62016D89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8B748-5A70-CFC7-8BBD-C0A1F0C1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F1745-0AB3-ACC1-56C3-EB2E7CD3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1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FA9E5-4651-63F9-9E89-1747AEDF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1BC8C-ED41-7A86-C2ED-264F7227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33726-12CD-2CB6-181F-84688DA5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4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8142-2CF7-C398-1C52-B0C46D3A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C4DD5-E862-4092-8F89-6571B08F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62E8C-819E-B817-5BFC-F69580B4F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1233D-7502-EC82-A30B-ECA6B46B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31F6-A9FE-2494-0B35-888F4944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B6257-403C-BDD4-EA73-3FA4D651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1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9B40-2854-A176-AED9-F3D1EBC0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C185C-B4E3-31FA-00BA-9C26F09F8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6FE1E-AAC6-96D4-4281-300E49561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DE910-B04A-1723-7B9A-164002A76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ACD3F-81CC-4DAC-F737-3D4C3BD35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7B766-FA32-86E7-B883-3AEA03F3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7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A542-50BF-827A-C584-75947B3F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F8DB-E680-FB9A-D3BF-909F7B1E4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1192A-77DD-1443-F84B-E728F849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66731-355C-4D17-3A1F-7725D328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BF39-4D47-8485-0C4F-BA16713B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A2CE4-44F6-2FC8-2AE6-F0C036AF7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D255B-D13C-2962-27B4-582137990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B431-5497-6DE1-A7C6-F8E4C597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F493-51FF-DFF8-45C0-CBC4BF38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B841-C40B-B995-D0A1-B6EAAD7D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0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DED4E-F05E-DD86-AEE7-4DE174BD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1644A-9F3C-38FE-4F11-36B36717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4AC7D-3EE3-39E6-DAE1-E11B133FC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2EBA6-3FE5-453C-A5DC-F5CEF9F0AA83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4B35-8A1E-C593-DBF4-3D985491D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16213-D964-7796-5271-B92D83241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2F70C-58BF-47FF-9D2C-0A0ACD8B2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6hhFkSXpRY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0" y="1"/>
            <a:ext cx="5329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u="sng" dirty="0">
                <a:solidFill>
                  <a:srgbClr val="FF0000"/>
                </a:solidFill>
              </a:rPr>
              <a:t>Length contraction:-</a:t>
            </a:r>
            <a:endParaRPr lang="en-US" sz="4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1" y="1"/>
            <a:ext cx="7972425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4267201"/>
            <a:ext cx="8001000" cy="2427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"/>
            <a:ext cx="8458200" cy="662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0"/>
            <a:ext cx="8420100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96194" y="5943600"/>
            <a:ext cx="2266406" cy="94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31408" y="101348"/>
            <a:ext cx="3407592" cy="142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1752600"/>
            <a:ext cx="870369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1" y="1658064"/>
            <a:ext cx="87630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Physical Significance</a:t>
            </a:r>
            <a:r>
              <a:rPr lang="en-US" sz="2800" b="1" dirty="0">
                <a:solidFill>
                  <a:srgbClr val="FF0000"/>
                </a:solidFill>
              </a:rPr>
              <a:t>:-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(a) when v &lt;&lt; c, then v</a:t>
            </a:r>
            <a:r>
              <a:rPr lang="en-US" baseline="30000" dirty="0"/>
              <a:t>2</a:t>
            </a:r>
            <a:r>
              <a:rPr lang="en-US" dirty="0"/>
              <a:t>/c</a:t>
            </a:r>
            <a:r>
              <a:rPr lang="en-US" baseline="30000" dirty="0"/>
              <a:t>2 </a:t>
            </a:r>
            <a:r>
              <a:rPr lang="en-US" dirty="0"/>
              <a:t>&lt;&lt; 1, </a:t>
            </a:r>
            <a:r>
              <a:rPr lang="en-US" b="1" dirty="0">
                <a:latin typeface="Vivaldi" pitchFamily="66" charset="0"/>
                <a:cs typeface="Times New Roman" pitchFamily="18" charset="0"/>
              </a:rPr>
              <a:t>l</a:t>
            </a:r>
            <a:r>
              <a:rPr lang="en-US" dirty="0">
                <a:sym typeface="Symbol"/>
              </a:rPr>
              <a:t> </a:t>
            </a:r>
            <a:r>
              <a:rPr lang="en-US" dirty="0"/>
              <a:t>= </a:t>
            </a:r>
            <a:r>
              <a:rPr lang="en-US" b="1" dirty="0">
                <a:latin typeface="Vivaldi" pitchFamily="66" charset="0"/>
                <a:cs typeface="Times New Roman" pitchFamily="18" charset="0"/>
              </a:rPr>
              <a:t>l ‘  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(L=</a:t>
            </a:r>
            <a:r>
              <a:rPr lang="en-US" dirty="0"/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Lo) </a:t>
            </a:r>
            <a:endParaRPr lang="en-US" dirty="0"/>
          </a:p>
          <a:p>
            <a:pPr algn="just"/>
            <a:r>
              <a:rPr lang="en-US" dirty="0"/>
              <a:t>i.e.,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Observed length (L or </a:t>
            </a:r>
            <a:r>
              <a:rPr lang="en-US" sz="2400" b="1" dirty="0">
                <a:latin typeface="Vivaldi" pitchFamily="66" charset="0"/>
                <a:cs typeface="Times New Roman" pitchFamily="18" charset="0"/>
              </a:rPr>
              <a:t>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/>
              <a:t>according to observer “O” is the same as that when it is at rest.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(b) when v is comparable to c, </a:t>
            </a:r>
            <a:r>
              <a:rPr lang="en-US" dirty="0">
                <a:sym typeface="Symbol"/>
              </a:rPr>
              <a:t></a:t>
            </a:r>
            <a:r>
              <a:rPr lang="en-US" dirty="0"/>
              <a:t>(1 – v</a:t>
            </a:r>
            <a:r>
              <a:rPr lang="en-US" baseline="30000" dirty="0"/>
              <a:t>2</a:t>
            </a:r>
            <a:r>
              <a:rPr lang="en-US" dirty="0"/>
              <a:t>/c</a:t>
            </a:r>
            <a:r>
              <a:rPr lang="en-US" baseline="30000" dirty="0"/>
              <a:t>2</a:t>
            </a:r>
            <a:r>
              <a:rPr lang="en-US" dirty="0"/>
              <a:t>) &lt; 1 and in this case </a:t>
            </a:r>
            <a:r>
              <a:rPr lang="en-US" b="1" dirty="0">
                <a:latin typeface="Vivaldi" pitchFamily="66" charset="0"/>
                <a:cs typeface="Times New Roman" pitchFamily="18" charset="0"/>
              </a:rPr>
              <a:t>l</a:t>
            </a:r>
            <a:r>
              <a:rPr lang="en-US" dirty="0">
                <a:sym typeface="Symbol"/>
              </a:rPr>
              <a:t> &lt;</a:t>
            </a:r>
            <a:r>
              <a:rPr lang="en-US" dirty="0"/>
              <a:t> </a:t>
            </a:r>
            <a:r>
              <a:rPr lang="en-US" b="1" dirty="0">
                <a:latin typeface="Vivaldi" pitchFamily="66" charset="0"/>
                <a:cs typeface="Times New Roman" pitchFamily="18" charset="0"/>
              </a:rPr>
              <a:t>l’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(L</a:t>
            </a:r>
            <a:r>
              <a:rPr lang="en-US" dirty="0"/>
              <a:t>&lt;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Lo) </a:t>
            </a:r>
            <a:r>
              <a:rPr lang="en-US" dirty="0"/>
              <a:t>i.e., </a:t>
            </a:r>
            <a:r>
              <a:rPr lang="en-US" dirty="0">
                <a:solidFill>
                  <a:srgbClr val="FF0000"/>
                </a:solidFill>
              </a:rPr>
              <a:t>the apparent length L or </a:t>
            </a:r>
            <a:r>
              <a:rPr lang="en-US" b="1" dirty="0">
                <a:solidFill>
                  <a:srgbClr val="FF0000"/>
                </a:solidFill>
                <a:latin typeface="Freestyle Script" pitchFamily="66" charset="0"/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 of a body in a frame S relative to which the rod is moving with uniform velocity v will be less than its proper length L</a:t>
            </a:r>
            <a:r>
              <a:rPr lang="en-US" baseline="-25000" dirty="0">
                <a:solidFill>
                  <a:srgbClr val="FF0000"/>
                </a:solidFill>
              </a:rPr>
              <a:t>o</a:t>
            </a:r>
            <a:r>
              <a:rPr lang="en-US" dirty="0">
                <a:solidFill>
                  <a:srgbClr val="FF0000"/>
                </a:solidFill>
              </a:rPr>
              <a:t>  or  </a:t>
            </a:r>
            <a:r>
              <a:rPr lang="en-US" b="1" dirty="0">
                <a:solidFill>
                  <a:srgbClr val="FF0000"/>
                </a:solidFill>
                <a:latin typeface="Freestyle Script" pitchFamily="66" charset="0"/>
              </a:rPr>
              <a:t>L’</a:t>
            </a:r>
            <a:r>
              <a:rPr lang="en-US" dirty="0">
                <a:solidFill>
                  <a:srgbClr val="FF0000"/>
                </a:solidFill>
              </a:rPr>
              <a:t>  by the factor 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</a:t>
            </a:r>
            <a:r>
              <a:rPr lang="en-US" dirty="0">
                <a:solidFill>
                  <a:srgbClr val="FF0000"/>
                </a:solidFill>
              </a:rPr>
              <a:t>(1 – v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/c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). This </a:t>
            </a:r>
            <a:r>
              <a:rPr lang="en-US" b="1" dirty="0">
                <a:solidFill>
                  <a:srgbClr val="FF0000"/>
                </a:solidFill>
              </a:rPr>
              <a:t>contraction of length </a:t>
            </a:r>
            <a:r>
              <a:rPr lang="en-US" dirty="0">
                <a:solidFill>
                  <a:srgbClr val="FF0000"/>
                </a:solidFill>
              </a:rPr>
              <a:t>of a body along the motion is called </a:t>
            </a:r>
            <a:r>
              <a:rPr lang="en-US" b="1" i="1" dirty="0">
                <a:solidFill>
                  <a:srgbClr val="FF0000"/>
                </a:solidFill>
              </a:rPr>
              <a:t>Lorentz – Fitzgerald contraction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dirty="0"/>
              <a:t>(c) when v 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 c, v</a:t>
            </a:r>
            <a:r>
              <a:rPr lang="en-US" baseline="30000" dirty="0"/>
              <a:t>2</a:t>
            </a:r>
            <a:r>
              <a:rPr lang="en-US" dirty="0"/>
              <a:t>/c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</a:t>
            </a:r>
            <a:r>
              <a:rPr lang="en-US" dirty="0"/>
              <a:t> 1, so that </a:t>
            </a:r>
            <a:r>
              <a:rPr lang="en-US" b="1" dirty="0">
                <a:latin typeface="Vivaldi" pitchFamily="66" charset="0"/>
                <a:cs typeface="Times New Roman" pitchFamily="18" charset="0"/>
              </a:rPr>
              <a:t>l </a:t>
            </a:r>
            <a:r>
              <a:rPr lang="en-US" dirty="0"/>
              <a:t>= </a:t>
            </a:r>
            <a:r>
              <a:rPr lang="en-US" dirty="0">
                <a:sym typeface="Symbol"/>
              </a:rPr>
              <a:t>0</a:t>
            </a:r>
            <a:r>
              <a:rPr lang="en-US" dirty="0"/>
              <a:t> 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L=0</a:t>
            </a:r>
            <a:r>
              <a:rPr lang="en-US" dirty="0"/>
              <a:t>)or imaginary i.e., That is not possible. </a:t>
            </a:r>
            <a:r>
              <a:rPr lang="en-US" b="1" dirty="0">
                <a:solidFill>
                  <a:srgbClr val="FF0000"/>
                </a:solidFill>
              </a:rPr>
              <a:t>This implies that no material body can have the velocity equal to or greater than the velocity of the light. 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76200"/>
            <a:ext cx="3407592" cy="142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0201" y="1171576"/>
            <a:ext cx="52482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872090" y="304801"/>
            <a:ext cx="3802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    </a:t>
            </a:r>
            <a:r>
              <a:rPr lang="en-US" sz="3600" dirty="0"/>
              <a:t>L = L</a:t>
            </a:r>
            <a:r>
              <a:rPr lang="en-US" sz="3600" baseline="-25000" dirty="0"/>
              <a:t>o</a:t>
            </a:r>
            <a:r>
              <a:rPr lang="en-US" sz="3600" dirty="0">
                <a:sym typeface="Symbol"/>
              </a:rPr>
              <a:t></a:t>
            </a:r>
            <a:r>
              <a:rPr lang="en-US" sz="3600" dirty="0"/>
              <a:t>(1 – v</a:t>
            </a:r>
            <a:r>
              <a:rPr lang="en-US" sz="3600" baseline="30000" dirty="0"/>
              <a:t>2</a:t>
            </a:r>
            <a:r>
              <a:rPr lang="en-US" sz="3600" dirty="0"/>
              <a:t>/c</a:t>
            </a:r>
            <a:r>
              <a:rPr lang="en-US" sz="3600" baseline="30000" dirty="0"/>
              <a:t>2</a:t>
            </a:r>
            <a:r>
              <a:rPr lang="en-US" sz="36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4876801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V=0.5C, So </a:t>
            </a:r>
            <a:r>
              <a:rPr lang="en-US" dirty="0">
                <a:sym typeface="Symbol"/>
              </a:rPr>
              <a:t></a:t>
            </a:r>
            <a:r>
              <a:rPr lang="en-US" dirty="0"/>
              <a:t>(1 – v</a:t>
            </a:r>
            <a:r>
              <a:rPr lang="en-US" baseline="30000" dirty="0"/>
              <a:t>2</a:t>
            </a:r>
            <a:r>
              <a:rPr lang="en-US" dirty="0"/>
              <a:t>/c</a:t>
            </a:r>
            <a:r>
              <a:rPr lang="en-US" baseline="30000" dirty="0"/>
              <a:t>2</a:t>
            </a:r>
            <a:r>
              <a:rPr lang="en-US" dirty="0"/>
              <a:t>) = </a:t>
            </a:r>
            <a:r>
              <a:rPr lang="en-US" dirty="0">
                <a:sym typeface="Symbol"/>
              </a:rPr>
              <a:t></a:t>
            </a:r>
            <a:r>
              <a:rPr lang="en-US" dirty="0"/>
              <a:t>(1 – [0.5c]</a:t>
            </a:r>
            <a:r>
              <a:rPr lang="en-US" baseline="30000" dirty="0"/>
              <a:t>2</a:t>
            </a:r>
            <a:r>
              <a:rPr lang="en-US" dirty="0"/>
              <a:t>/c</a:t>
            </a:r>
            <a:r>
              <a:rPr lang="en-US" baseline="30000" dirty="0"/>
              <a:t>2</a:t>
            </a:r>
            <a:r>
              <a:rPr lang="en-US" dirty="0"/>
              <a:t>)= </a:t>
            </a:r>
            <a:r>
              <a:rPr lang="en-US" dirty="0">
                <a:sym typeface="Symbol"/>
              </a:rPr>
              <a:t></a:t>
            </a:r>
            <a:r>
              <a:rPr lang="en-US" dirty="0"/>
              <a:t>(1 – [0.5]</a:t>
            </a:r>
            <a:r>
              <a:rPr lang="en-US" baseline="30000" dirty="0"/>
              <a:t>2</a:t>
            </a:r>
            <a:r>
              <a:rPr lang="en-US" baseline="-25000" dirty="0"/>
              <a:t> </a:t>
            </a:r>
            <a:r>
              <a:rPr lang="en-US" baseline="30000" dirty="0"/>
              <a:t> </a:t>
            </a:r>
            <a:r>
              <a:rPr lang="en-US" dirty="0"/>
              <a:t> = </a:t>
            </a:r>
            <a:r>
              <a:rPr lang="en-US" dirty="0">
                <a:sym typeface="Symbol"/>
              </a:rPr>
              <a:t>0.75= 0.866</a:t>
            </a:r>
          </a:p>
          <a:p>
            <a:endParaRPr lang="en-US" baseline="-25000" dirty="0">
              <a:sym typeface="Symbol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So L = L</a:t>
            </a:r>
            <a:r>
              <a:rPr lang="en-US" b="1" baseline="-25000" dirty="0">
                <a:solidFill>
                  <a:srgbClr val="FF0000"/>
                </a:solidFill>
              </a:rPr>
              <a:t>o </a:t>
            </a:r>
            <a:r>
              <a:rPr lang="en-US" b="1" dirty="0">
                <a:solidFill>
                  <a:srgbClr val="FF0000"/>
                </a:solidFill>
              </a:rPr>
              <a:t>(0.866)=&gt;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if L</a:t>
            </a:r>
            <a:r>
              <a:rPr lang="en-US" b="1" baseline="-25000" dirty="0">
                <a:solidFill>
                  <a:srgbClr val="FF0000"/>
                </a:solidFill>
              </a:rPr>
              <a:t>o </a:t>
            </a:r>
            <a:r>
              <a:rPr lang="en-US" b="1" dirty="0">
                <a:solidFill>
                  <a:srgbClr val="FF0000"/>
                </a:solidFill>
              </a:rPr>
              <a:t>=10m, so L =8.66m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2" y="941488"/>
            <a:ext cx="28193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If the length is measured in a direction normal to the direction of motion no contraction is observed as y’ = y and z’ = z in the Lorentz transformations.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 Thus a moving square will appear as a rectangle with shorter side along the direction of motion and 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 circle will appear as an ellipse with its minor axis along the direction of motio</a:t>
            </a:r>
            <a:r>
              <a:rPr lang="en-US" dirty="0"/>
              <a:t>n.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1"/>
            <a:ext cx="6453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Contraction of length of a body along the motion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72026" y="752476"/>
            <a:ext cx="5895975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Q: Why does Lorentz contraction only act in the direction of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990600"/>
            <a:ext cx="8103358" cy="28956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438400" y="381001"/>
            <a:ext cx="705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Length Contraction Depends on the velocity of Object 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5486401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hlinkClick r:id="rId3"/>
              </a:rPr>
              <a:t>Reference:-Video Lecture on </a:t>
            </a:r>
            <a:r>
              <a:rPr lang="en-US" b="1" u="sng" dirty="0">
                <a:solidFill>
                  <a:srgbClr val="FF0000"/>
                </a:solidFill>
              </a:rPr>
              <a:t>Length contraction:- </a:t>
            </a:r>
            <a:r>
              <a:rPr lang="en-US" dirty="0">
                <a:hlinkClick r:id="rId3"/>
              </a:rPr>
              <a:t>https://www.youtube.com/watch?v=p6hhFkSXpRY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695700"/>
            <a:ext cx="914400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 descr="Eng.Life - Assignment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-152400"/>
            <a:ext cx="9144000" cy="19812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524000" y="1828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lgerian" pitchFamily="82" charset="0"/>
              </a:rPr>
              <a:t>You all have to watch “interstellar movie” before attending my next lecture 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lgerian" pitchFamily="82" charset="0"/>
              </a:rPr>
              <a:t>or </a:t>
            </a:r>
            <a:endParaRPr 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lgerian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https://www.youtube.com/watch?v=fSzDm19LVIg</a:t>
            </a:r>
            <a:endParaRPr lang="en-US" sz="2400" b="1" dirty="0">
              <a:solidFill>
                <a:srgbClr val="FF0000"/>
              </a:solidFill>
              <a:latin typeface="Algerian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Freestyle Script</vt:lpstr>
      <vt:lpstr>Times New Roman</vt:lpstr>
      <vt:lpstr>Vivaldi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Dheeraj Bhardwaj</dc:creator>
  <cp:lastModifiedBy>Dheeraj Bhardwaj</cp:lastModifiedBy>
  <cp:revision>1</cp:revision>
  <dcterms:created xsi:type="dcterms:W3CDTF">2023-05-17T06:31:35Z</dcterms:created>
  <dcterms:modified xsi:type="dcterms:W3CDTF">2023-05-17T06:31:44Z</dcterms:modified>
</cp:coreProperties>
</file>