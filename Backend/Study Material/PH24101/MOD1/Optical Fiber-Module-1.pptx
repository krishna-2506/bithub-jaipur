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95" r:id="rId2"/>
    <p:sldId id="293" r:id="rId3"/>
    <p:sldId id="294" r:id="rId4"/>
    <p:sldId id="270" r:id="rId5"/>
    <p:sldId id="271" r:id="rId6"/>
    <p:sldId id="272" r:id="rId7"/>
    <p:sldId id="289" r:id="rId8"/>
    <p:sldId id="291" r:id="rId9"/>
    <p:sldId id="292" r:id="rId10"/>
    <p:sldId id="273" r:id="rId11"/>
    <p:sldId id="274" r:id="rId12"/>
    <p:sldId id="275" r:id="rId13"/>
    <p:sldId id="312" r:id="rId14"/>
    <p:sldId id="276" r:id="rId15"/>
    <p:sldId id="277" r:id="rId16"/>
    <p:sldId id="278" r:id="rId17"/>
    <p:sldId id="300" r:id="rId18"/>
    <p:sldId id="308" r:id="rId19"/>
    <p:sldId id="309" r:id="rId20"/>
    <p:sldId id="310" r:id="rId21"/>
    <p:sldId id="311" r:id="rId22"/>
    <p:sldId id="303" r:id="rId23"/>
    <p:sldId id="306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43394-8271-48B6-85F4-524830F11C49}" type="datetimeFigureOut">
              <a:rPr lang="en-US" smtClean="0"/>
              <a:pPr/>
              <a:t>2/16/2024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BCB69-1EBD-4111-8031-12958A3EBDA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9BCB69-1EBD-4111-8031-12958A3EBDAD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10CD7F-E8FA-49AC-82ED-3745997EA245}" type="slidenum">
              <a:rPr lang="en-US"/>
              <a:pPr/>
              <a:t>7</a:t>
            </a:fld>
            <a:endParaRPr lang="en-US"/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4538" cy="3416300"/>
          </a:xfrm>
          <a:ln w="12700"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ln/>
        </p:spPr>
        <p:txBody>
          <a:bodyPr lIns="92067" tIns="46034" rIns="92067" bIns="46034"/>
          <a:lstStyle/>
          <a:p>
            <a:pPr>
              <a:spcBef>
                <a:spcPct val="0"/>
              </a:spcBef>
            </a:pPr>
            <a:endParaRPr lang="en-US"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33F785-A76A-4EC8-B131-B192FA075395}" type="slidenum">
              <a:rPr lang="en-US"/>
              <a:pPr/>
              <a:t>8</a:t>
            </a:fld>
            <a:endParaRPr lang="en-US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41438" y="915988"/>
            <a:ext cx="4176712" cy="3132137"/>
          </a:xfrm>
          <a:solidFill>
            <a:srgbClr val="FFFFFF"/>
          </a:solidFill>
          <a:ln/>
        </p:spPr>
      </p:sp>
      <p:sp>
        <p:nvSpPr>
          <p:cNvPr id="3584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1046163" y="4352925"/>
            <a:ext cx="4770437" cy="3476625"/>
          </a:xfrm>
          <a:ln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urfnet.nl/en/publications/SURFnet5/h4.html" TargetMode="External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838200"/>
            <a:ext cx="6629400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800" b="1" u="sng" dirty="0">
                <a:solidFill>
                  <a:srgbClr val="FF0000"/>
                </a:solidFill>
              </a:rPr>
              <a:t>Module-1-Optical Fiber</a:t>
            </a:r>
          </a:p>
          <a:p>
            <a:pPr algn="ctr"/>
            <a:endParaRPr lang="en-US" sz="4800" b="1" u="sng" dirty="0">
              <a:solidFill>
                <a:srgbClr val="FF0000"/>
              </a:solidFill>
            </a:endParaRPr>
          </a:p>
          <a:p>
            <a:pPr algn="ctr"/>
            <a:r>
              <a:rPr lang="en-US" sz="4800" b="1" u="sng" dirty="0">
                <a:solidFill>
                  <a:srgbClr val="FF0000"/>
                </a:solidFill>
              </a:rPr>
              <a:t>Lecture </a:t>
            </a:r>
            <a:r>
              <a:rPr lang="en-US" sz="4800" b="1" u="sng" dirty="0" err="1">
                <a:solidFill>
                  <a:srgbClr val="FF0000"/>
                </a:solidFill>
              </a:rPr>
              <a:t>ppt</a:t>
            </a:r>
            <a:endParaRPr lang="en-US" sz="4800" b="1" u="sng" dirty="0">
              <a:solidFill>
                <a:srgbClr val="FF0000"/>
              </a:solidFill>
            </a:endParaRPr>
          </a:p>
          <a:p>
            <a:pPr algn="ctr"/>
            <a:endParaRPr lang="en-US" sz="4800" b="1" u="sng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Presented 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By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Dr. </a:t>
            </a:r>
            <a:r>
              <a:rPr lang="en-US" sz="2800" b="1" dirty="0" err="1">
                <a:solidFill>
                  <a:srgbClr val="FF0000"/>
                </a:solidFill>
              </a:rPr>
              <a:t>Dheeraj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b="1" dirty="0" err="1">
                <a:solidFill>
                  <a:srgbClr val="FF0000"/>
                </a:solidFill>
              </a:rPr>
              <a:t>Bhardwaj</a:t>
            </a:r>
            <a:endParaRPr lang="en-US" sz="2800" b="1" dirty="0">
              <a:solidFill>
                <a:srgbClr val="FF0000"/>
              </a:solidFill>
            </a:endParaRP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Department of Physics</a:t>
            </a:r>
          </a:p>
          <a:p>
            <a:pPr algn="ctr"/>
            <a:r>
              <a:rPr lang="en-US" sz="2800" b="1" dirty="0">
                <a:solidFill>
                  <a:srgbClr val="FF0000"/>
                </a:solidFill>
              </a:rPr>
              <a:t>BIT </a:t>
            </a:r>
            <a:r>
              <a:rPr lang="en-US" sz="2800" b="1" dirty="0" err="1">
                <a:solidFill>
                  <a:srgbClr val="FF0000"/>
                </a:solidFill>
              </a:rPr>
              <a:t>Mesra</a:t>
            </a:r>
            <a:r>
              <a:rPr lang="en-US" sz="2800" b="1" dirty="0">
                <a:solidFill>
                  <a:srgbClr val="FF0000"/>
                </a:solidFill>
              </a:rPr>
              <a:t>, </a:t>
            </a:r>
            <a:r>
              <a:rPr lang="en-US" sz="2800" b="1" dirty="0" err="1">
                <a:solidFill>
                  <a:srgbClr val="FF0000"/>
                </a:solidFill>
              </a:rPr>
              <a:t>Jaipur</a:t>
            </a:r>
            <a:r>
              <a:rPr lang="en-US" sz="2800" b="1" dirty="0">
                <a:solidFill>
                  <a:srgbClr val="FF0000"/>
                </a:solidFill>
              </a:rPr>
              <a:t> Campus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04800" y="686032"/>
          <a:ext cx="8610600" cy="601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81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855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Key 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Fiber Optic Communication</a:t>
                      </a:r>
                    </a:p>
                    <a:p>
                      <a:pPr algn="ctr"/>
                      <a:endParaRPr 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i="0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Wireless Communication</a:t>
                      </a:r>
                      <a:endParaRPr 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410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Speed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Due to higher Bandwidth (100MBPS), It is not affected like this and so gains higher speed.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The networks become heavily congested since all users of wireless network sharing the same bandwidth (10MBPS), So it becomes slower. 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527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 least affected by distance </a:t>
                      </a:r>
                    </a:p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(Very low transmission loss)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wireless signals degrade proportionally with distance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5272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Mobility and convenience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It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need wired connection (Optical fiber)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does not need any wired connection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5272">
                <a:tc>
                  <a:txBody>
                    <a:bodyPr/>
                    <a:lstStyle/>
                    <a:p>
                      <a:r>
                        <a:rPr lang="en-US" dirty="0"/>
                        <a:t>Access in laminated areas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any type of Hilly areas and Border areas Optical fiber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Communication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services work.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 In some areas hilly areas and Border areas wireless services do not work.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5272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Signal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Interference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It has very low Signal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Interference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It has significant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s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ignal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Interference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5272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Carrier wave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Normal Light or Laser Light are used as a carrier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wave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RF/microwave  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are used as a carrier</a:t>
                      </a:r>
                      <a:r>
                        <a:rPr lang="en-US" b="0" baseline="0" dirty="0">
                          <a:solidFill>
                            <a:schemeClr val="tx1"/>
                          </a:solidFill>
                        </a:rPr>
                        <a:t> wave 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457200" y="71735"/>
            <a:ext cx="845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Differences Between Optical Fiber and Wireless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800" y="457200"/>
            <a:ext cx="8534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Module-1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Elementary ideas of fiber optics and application of fiber optic cables.</a:t>
            </a:r>
          </a:p>
          <a:p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3200400"/>
            <a:ext cx="8686800" cy="868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0" y="4572000"/>
            <a:ext cx="8670072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00" y="457200"/>
            <a:ext cx="8765652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297" y="304800"/>
            <a:ext cx="8806103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244788"/>
            <a:ext cx="9144000" cy="2689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4648200" y="1676400"/>
            <a:ext cx="4114800" cy="2286000"/>
            <a:chOff x="1776" y="923"/>
            <a:chExt cx="3209" cy="2035"/>
          </a:xfrm>
        </p:grpSpPr>
        <p:grpSp>
          <p:nvGrpSpPr>
            <p:cNvPr id="5" name="Group 8"/>
            <p:cNvGrpSpPr>
              <a:grpSpLocks/>
            </p:cNvGrpSpPr>
            <p:nvPr/>
          </p:nvGrpSpPr>
          <p:grpSpPr bwMode="auto">
            <a:xfrm>
              <a:off x="1776" y="1536"/>
              <a:ext cx="3209" cy="1422"/>
              <a:chOff x="1783" y="1532"/>
              <a:chExt cx="3209" cy="1422"/>
            </a:xfrm>
          </p:grpSpPr>
          <p:sp>
            <p:nvSpPr>
              <p:cNvPr id="12" name="AutoShape 7"/>
              <p:cNvSpPr>
                <a:spLocks noChangeArrowheads="1"/>
              </p:cNvSpPr>
              <p:nvPr/>
            </p:nvSpPr>
            <p:spPr bwMode="auto">
              <a:xfrm rot="1387744">
                <a:off x="1783" y="1532"/>
                <a:ext cx="1617" cy="1086"/>
              </a:xfrm>
              <a:prstGeom prst="flowChartMagneticDrum">
                <a:avLst/>
              </a:prstGeom>
              <a:solidFill>
                <a:srgbClr val="000000"/>
              </a:solidFill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" name="AutoShape 6"/>
              <p:cNvSpPr>
                <a:spLocks noChangeArrowheads="1"/>
              </p:cNvSpPr>
              <p:nvPr/>
            </p:nvSpPr>
            <p:spPr bwMode="auto">
              <a:xfrm rot="1387744">
                <a:off x="2928" y="2208"/>
                <a:ext cx="1341" cy="586"/>
              </a:xfrm>
              <a:prstGeom prst="flowChartMagneticDrum">
                <a:avLst/>
              </a:prstGeom>
              <a:solidFill>
                <a:srgbClr val="D60093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4" name="AutoShape 5"/>
              <p:cNvSpPr>
                <a:spLocks noChangeArrowheads="1"/>
              </p:cNvSpPr>
              <p:nvPr/>
            </p:nvSpPr>
            <p:spPr bwMode="auto">
              <a:xfrm rot="1387744">
                <a:off x="3888" y="2784"/>
                <a:ext cx="1104" cy="170"/>
              </a:xfrm>
              <a:prstGeom prst="flowChartMagneticDrum">
                <a:avLst/>
              </a:prstGeom>
              <a:solidFill>
                <a:srgbClr val="FFFF00"/>
              </a:solidFill>
              <a:ln w="2857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>
              <a:off x="1968" y="923"/>
              <a:ext cx="2453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400" b="1" dirty="0">
                  <a:solidFill>
                    <a:srgbClr val="000000"/>
                  </a:solidFill>
                  <a:latin typeface="Baskerville Old Face" pitchFamily="18" charset="0"/>
                </a:rPr>
                <a:t>Poly urethane protective jacket</a:t>
              </a:r>
            </a:p>
          </p:txBody>
        </p:sp>
        <p:sp>
          <p:nvSpPr>
            <p:cNvPr id="7" name="Text Box 10"/>
            <p:cNvSpPr txBox="1">
              <a:spLocks noChangeArrowheads="1"/>
            </p:cNvSpPr>
            <p:nvPr/>
          </p:nvSpPr>
          <p:spPr bwMode="auto">
            <a:xfrm>
              <a:off x="3600" y="1760"/>
              <a:ext cx="80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b="1" dirty="0">
                  <a:solidFill>
                    <a:srgbClr val="000000"/>
                  </a:solidFill>
                </a:rPr>
                <a:t>Cladding</a:t>
              </a:r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4416" y="2336"/>
              <a:ext cx="481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1" hangingPunct="1"/>
              <a:r>
                <a:rPr lang="en-US" sz="2000" b="1">
                  <a:solidFill>
                    <a:srgbClr val="000000"/>
                  </a:solidFill>
                </a:rPr>
                <a:t>Core</a:t>
              </a:r>
            </a:p>
          </p:txBody>
        </p:sp>
        <p:sp>
          <p:nvSpPr>
            <p:cNvPr id="9" name="Line 12"/>
            <p:cNvSpPr>
              <a:spLocks noChangeShapeType="1"/>
            </p:cNvSpPr>
            <p:nvPr/>
          </p:nvSpPr>
          <p:spPr bwMode="auto">
            <a:xfrm flipV="1">
              <a:off x="2544" y="1200"/>
              <a:ext cx="144" cy="384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13"/>
            <p:cNvSpPr>
              <a:spLocks noChangeShapeType="1"/>
            </p:cNvSpPr>
            <p:nvPr/>
          </p:nvSpPr>
          <p:spPr bwMode="auto">
            <a:xfrm flipV="1">
              <a:off x="3648" y="2016"/>
              <a:ext cx="96" cy="192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V="1">
              <a:off x="4416" y="2544"/>
              <a:ext cx="144" cy="240"/>
            </a:xfrm>
            <a:prstGeom prst="line">
              <a:avLst/>
            </a:prstGeom>
            <a:noFill/>
            <a:ln w="9525">
              <a:solidFill>
                <a:srgbClr val="000099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5" name="Picture 2" descr="Image result for optical fibre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" y="1676399"/>
            <a:ext cx="3699996" cy="2448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2414" y="152400"/>
            <a:ext cx="6779986" cy="28194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5600" y="3686175"/>
            <a:ext cx="4684412" cy="294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304800"/>
            <a:ext cx="7772400" cy="1143000"/>
          </a:xfrm>
          <a:noFill/>
          <a:ln/>
        </p:spPr>
        <p:txBody>
          <a:bodyPr lIns="90488" tIns="44450" rIns="90488" bIns="44450"/>
          <a:lstStyle/>
          <a:p>
            <a:r>
              <a:rPr lang="en-US" sz="3600" dirty="0"/>
              <a:t>Fiber Optic Cables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6319838" y="5791200"/>
            <a:ext cx="189388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r"/>
            <a:r>
              <a:rPr lang="en-US" sz="1200" b="1">
                <a:latin typeface="Arial" charset="0"/>
              </a:rPr>
              <a:t>SOURCE: </a:t>
            </a:r>
            <a:r>
              <a:rPr lang="en-US" sz="1200" b="1">
                <a:latin typeface="Arial" charset="0"/>
                <a:hlinkClick r:id="rId3"/>
              </a:rPr>
              <a:t>SURFNET.NL</a:t>
            </a:r>
            <a:endParaRPr lang="en-US" sz="1200" b="1">
              <a:latin typeface="Arial" charset="0"/>
            </a:endParaRPr>
          </a:p>
        </p:txBody>
      </p:sp>
      <p:pic>
        <p:nvPicPr>
          <p:cNvPr id="40964" name="Picture 4" descr="08herengracht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921375" y="2743200"/>
            <a:ext cx="2917825" cy="4038599"/>
          </a:xfrm>
          <a:prstGeom prst="rect">
            <a:avLst/>
          </a:prstGeom>
          <a:noFill/>
        </p:spPr>
      </p:pic>
      <p:pic>
        <p:nvPicPr>
          <p:cNvPr id="40966" name="Picture 6" descr="Fibre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04800" y="3886200"/>
            <a:ext cx="3656013" cy="2741613"/>
          </a:xfrm>
          <a:prstGeom prst="rect">
            <a:avLst/>
          </a:prstGeom>
          <a:noFill/>
        </p:spPr>
      </p:pic>
      <p:pic>
        <p:nvPicPr>
          <p:cNvPr id="7" name="Picture 4" descr="G:\Software\users\vamshi\cpe473\fiber-optic-fiber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28600" y="523876"/>
            <a:ext cx="3657600" cy="3200400"/>
          </a:xfrm>
          <a:prstGeom prst="rect">
            <a:avLst/>
          </a:prstGeom>
          <a:noFill/>
        </p:spPr>
      </p:pic>
      <p:pic>
        <p:nvPicPr>
          <p:cNvPr id="8" name="Picture 2" descr="Image result for optical fibre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943600" y="76199"/>
            <a:ext cx="3105933" cy="2591235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685800"/>
            <a:ext cx="8229600" cy="1066800"/>
          </a:xfrm>
          <a:ln/>
        </p:spPr>
        <p:txBody>
          <a:bodyPr lIns="0" tIns="0" rIns="0" bIns="0"/>
          <a:lstStyle/>
          <a:p>
            <a:pPr defTabSz="4572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</a:pPr>
            <a:r>
              <a:rPr lang="en-US" sz="4000" b="1">
                <a:solidFill>
                  <a:srgbClr val="E4005C"/>
                </a:solidFill>
              </a:rPr>
              <a:t>Total Internal Reflection</a:t>
            </a:r>
            <a:endParaRPr lang="en-GB" sz="4000" b="1">
              <a:solidFill>
                <a:srgbClr val="E4005C"/>
              </a:solidFill>
            </a:endParaRPr>
          </a:p>
        </p:txBody>
      </p:sp>
      <p:sp>
        <p:nvSpPr>
          <p:cNvPr id="34819" name="AutoShape 3"/>
          <p:cNvSpPr>
            <a:spLocks noChangeArrowheads="1"/>
          </p:cNvSpPr>
          <p:nvPr/>
        </p:nvSpPr>
        <p:spPr bwMode="auto">
          <a:xfrm>
            <a:off x="0" y="0"/>
            <a:ext cx="9144000" cy="565150"/>
          </a:xfrm>
          <a:prstGeom prst="roundRect">
            <a:avLst>
              <a:gd name="adj" fmla="val 255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0" name="AutoShape 4"/>
          <p:cNvSpPr>
            <a:spLocks noChangeArrowheads="1"/>
          </p:cNvSpPr>
          <p:nvPr/>
        </p:nvSpPr>
        <p:spPr bwMode="auto">
          <a:xfrm>
            <a:off x="511175" y="1270000"/>
            <a:ext cx="247650" cy="247650"/>
          </a:xfrm>
          <a:prstGeom prst="roundRect">
            <a:avLst>
              <a:gd name="adj" fmla="val 579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1" name="AutoShape 5"/>
          <p:cNvSpPr>
            <a:spLocks noChangeArrowheads="1"/>
          </p:cNvSpPr>
          <p:nvPr/>
        </p:nvSpPr>
        <p:spPr bwMode="auto">
          <a:xfrm>
            <a:off x="635000" y="1392238"/>
            <a:ext cx="247650" cy="247650"/>
          </a:xfrm>
          <a:prstGeom prst="roundRect">
            <a:avLst>
              <a:gd name="adj" fmla="val 579"/>
            </a:avLst>
          </a:prstGeom>
          <a:solidFill>
            <a:srgbClr val="00B8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2" name="AutoShape 6"/>
          <p:cNvSpPr>
            <a:spLocks noChangeArrowheads="1"/>
          </p:cNvSpPr>
          <p:nvPr/>
        </p:nvSpPr>
        <p:spPr bwMode="auto">
          <a:xfrm>
            <a:off x="969963" y="1552575"/>
            <a:ext cx="7407275" cy="36513"/>
          </a:xfrm>
          <a:prstGeom prst="roundRect">
            <a:avLst>
              <a:gd name="adj" fmla="val 4167"/>
            </a:avLst>
          </a:prstGeom>
          <a:gradFill rotWithShape="0">
            <a:gsLst>
              <a:gs pos="0">
                <a:srgbClr val="800080"/>
              </a:gs>
              <a:gs pos="100000">
                <a:srgbClr val="008000"/>
              </a:gs>
            </a:gsLst>
            <a:lin ang="900000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123825" y="104775"/>
            <a:ext cx="581977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defTabSz="828675" hangingPunct="0">
              <a:lnSpc>
                <a:spcPct val="95000"/>
              </a:lnSpc>
              <a:buClr>
                <a:srgbClr val="000000"/>
              </a:buClr>
              <a:buSzPct val="45000"/>
              <a:buFont typeface="StarSymbol" charset="0"/>
              <a:buNone/>
              <a:tabLst>
                <a:tab pos="657225" algn="l"/>
                <a:tab pos="1312863" algn="l"/>
                <a:tab pos="1970088" algn="l"/>
                <a:tab pos="2627313" algn="l"/>
                <a:tab pos="3282950" algn="l"/>
                <a:tab pos="3940175" algn="l"/>
                <a:tab pos="4595813" algn="l"/>
                <a:tab pos="5253038" algn="l"/>
              </a:tabLst>
            </a:pPr>
            <a:r>
              <a:rPr lang="en-GB" b="1">
                <a:solidFill>
                  <a:schemeClr val="bg1"/>
                </a:solidFill>
              </a:rPr>
              <a:t>Physical Media</a:t>
            </a:r>
          </a:p>
        </p:txBody>
      </p:sp>
      <p:sp>
        <p:nvSpPr>
          <p:cNvPr id="34824" name="AutoShape 8"/>
          <p:cNvSpPr>
            <a:spLocks noChangeArrowheads="1"/>
          </p:cNvSpPr>
          <p:nvPr/>
        </p:nvSpPr>
        <p:spPr bwMode="auto">
          <a:xfrm>
            <a:off x="0" y="4989513"/>
            <a:ext cx="106363" cy="1868487"/>
          </a:xfrm>
          <a:prstGeom prst="roundRect">
            <a:avLst>
              <a:gd name="adj" fmla="val 1347"/>
            </a:avLst>
          </a:prstGeom>
          <a:solidFill>
            <a:srgbClr val="21426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pic>
        <p:nvPicPr>
          <p:cNvPr id="34825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457200" y="2692400"/>
            <a:ext cx="8229600" cy="2341563"/>
          </a:xfrm>
          <a:noFill/>
          <a:ln/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/>
              <a:t>How Does an Optical Fiber Transmit Light? </a:t>
            </a:r>
          </a:p>
        </p:txBody>
      </p:sp>
      <p:pic>
        <p:nvPicPr>
          <p:cNvPr id="13316" name="Picture 4" descr="fiber-optic-transmission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371600" y="2133600"/>
            <a:ext cx="6858000" cy="3703637"/>
          </a:xfrm>
          <a:noFill/>
          <a:ln/>
        </p:spPr>
      </p:pic>
      <p:sp>
        <p:nvSpPr>
          <p:cNvPr id="13319" name="Rectangle 7"/>
          <p:cNvSpPr>
            <a:spLocks noChangeArrowheads="1"/>
          </p:cNvSpPr>
          <p:nvPr/>
        </p:nvSpPr>
        <p:spPr bwMode="auto">
          <a:xfrm>
            <a:off x="7924800" y="2438400"/>
            <a:ext cx="152400" cy="1752600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485" y="457200"/>
            <a:ext cx="8743115" cy="609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52400"/>
            <a:ext cx="8305800" cy="233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381000" y="609600"/>
            <a:ext cx="6082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from Snell law at Air and Core Interface =&gt; </a:t>
            </a:r>
            <a:r>
              <a:rPr lang="en-US" sz="2400" b="1" dirty="0">
                <a:solidFill>
                  <a:srgbClr val="FF0000"/>
                </a:solidFill>
              </a:rPr>
              <a:t>n</a:t>
            </a:r>
            <a:r>
              <a:rPr lang="en-US" b="1" baseline="-25000" dirty="0">
                <a:solidFill>
                  <a:srgbClr val="FF0000"/>
                </a:solidFill>
              </a:rPr>
              <a:t>o</a:t>
            </a:r>
            <a:r>
              <a:rPr lang="en-US" b="1" dirty="0">
                <a:solidFill>
                  <a:srgbClr val="FF0000"/>
                </a:solidFill>
              </a:rPr>
              <a:t> Sin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sz="2400" b="1" dirty="0" err="1">
                <a:solidFill>
                  <a:srgbClr val="FF0000"/>
                </a:solidFill>
              </a:rPr>
              <a:t>n</a:t>
            </a:r>
            <a:r>
              <a:rPr lang="en-US" b="1" baseline="-25000" dirty="0" err="1">
                <a:solidFill>
                  <a:srgbClr val="FF0000"/>
                </a:solidFill>
              </a:rPr>
              <a:t>core</a:t>
            </a:r>
            <a:r>
              <a:rPr lang="en-US" b="1" dirty="0">
                <a:solidFill>
                  <a:srgbClr val="FF0000"/>
                </a:solidFill>
              </a:rPr>
              <a:t> Sin r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831068"/>
            <a:ext cx="2652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b="1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core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Sin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</a:t>
            </a:r>
            <a:r>
              <a:rPr lang="en-US" b="1" baseline="-25000" dirty="0">
                <a:solidFill>
                  <a:schemeClr val="tx1">
                    <a:lumMod val="75000"/>
                    <a:lumOff val="25000"/>
                  </a:schemeClr>
                </a:solidFill>
                <a:sym typeface="Symbol"/>
              </a:rPr>
              <a:t>c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</a:t>
            </a:r>
            <a:r>
              <a:rPr lang="en-US" b="1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clad</a:t>
            </a:r>
            <a:r>
              <a:rPr lang="en-US" b="1" baseline="-25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Sin 90</a:t>
            </a:r>
            <a:r>
              <a:rPr lang="en-US" b="1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 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en-US" b="1" baseline="30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3305175"/>
            <a:ext cx="800100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304800" y="2514600"/>
            <a:ext cx="4051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from Snell law at Core Cladding Interface</a:t>
            </a:r>
            <a:endParaRPr 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4400" y="3733800"/>
            <a:ext cx="4267200" cy="1770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81950" y="2362200"/>
            <a:ext cx="1162050" cy="1045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80999"/>
            <a:ext cx="8153400" cy="6102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91125" y="47625"/>
            <a:ext cx="387667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1066800" y="6400800"/>
            <a:ext cx="2971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u="sng" dirty="0" err="1">
                <a:solidFill>
                  <a:srgbClr val="FF0000"/>
                </a:solidFill>
                <a:latin typeface="Arial Black" pitchFamily="34" charset="0"/>
              </a:rPr>
              <a:t>i</a:t>
            </a:r>
            <a:r>
              <a:rPr lang="en-US" sz="1000" b="1" u="sng" dirty="0" err="1">
                <a:solidFill>
                  <a:srgbClr val="FF0000"/>
                </a:solidFill>
                <a:latin typeface="Arial Black" pitchFamily="34" charset="0"/>
              </a:rPr>
              <a:t>max</a:t>
            </a:r>
            <a:r>
              <a:rPr lang="en-US" sz="1000" b="1" u="sng" dirty="0">
                <a:solidFill>
                  <a:srgbClr val="FF0000"/>
                </a:solidFill>
                <a:latin typeface="Arial Black" pitchFamily="34" charset="0"/>
              </a:rPr>
              <a:t>  </a:t>
            </a:r>
            <a:r>
              <a:rPr lang="en-US" sz="1600" b="1" u="sng" dirty="0">
                <a:solidFill>
                  <a:srgbClr val="FF0000"/>
                </a:solidFill>
                <a:latin typeface="Arial Black" pitchFamily="34" charset="0"/>
              </a:rPr>
              <a:t>= Acceptance  Angle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4B8D96-C7D0-C9BD-0E29-F5ACE4753616}"/>
              </a:ext>
            </a:extLst>
          </p:cNvPr>
          <p:cNvSpPr txBox="1"/>
          <p:nvPr/>
        </p:nvSpPr>
        <p:spPr>
          <a:xfrm>
            <a:off x="762000" y="2667000"/>
            <a:ext cx="73369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Derivation of numerical aperture Second method</a:t>
            </a:r>
          </a:p>
        </p:txBody>
      </p:sp>
    </p:spTree>
    <p:extLst>
      <p:ext uri="{BB962C8B-B14F-4D97-AF65-F5344CB8AC3E}">
        <p14:creationId xmlns:p14="http://schemas.microsoft.com/office/powerpoint/2010/main" val="2763929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76200"/>
            <a:ext cx="8458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80000"/>
              </a:lnSpc>
            </a:pPr>
            <a:r>
              <a:rPr lang="en-US" b="1" u="sng" dirty="0">
                <a:solidFill>
                  <a:srgbClr val="FF0000"/>
                </a:solidFill>
                <a:latin typeface="Arial Black" pitchFamily="34" charset="0"/>
              </a:rPr>
              <a:t>Acceptance  Angle (</a:t>
            </a:r>
            <a:r>
              <a:rPr lang="en-US" b="1" u="sng" dirty="0" err="1">
                <a:solidFill>
                  <a:srgbClr val="FF0000"/>
                </a:solidFill>
                <a:latin typeface="Arial Black" pitchFamily="34" charset="0"/>
              </a:rPr>
              <a:t>i</a:t>
            </a:r>
            <a:r>
              <a:rPr lang="en-US" sz="1200" b="1" u="sng" dirty="0" err="1">
                <a:solidFill>
                  <a:srgbClr val="FF0000"/>
                </a:solidFill>
                <a:latin typeface="Arial Black" pitchFamily="34" charset="0"/>
              </a:rPr>
              <a:t>max</a:t>
            </a:r>
            <a:r>
              <a:rPr lang="en-US" sz="1200" b="1" u="sng" dirty="0">
                <a:solidFill>
                  <a:srgbClr val="FF0000"/>
                </a:solidFill>
                <a:latin typeface="Arial Black" pitchFamily="34" charset="0"/>
              </a:rPr>
              <a:t>)</a:t>
            </a:r>
            <a:r>
              <a:rPr lang="en-US" sz="1200" b="1" dirty="0">
                <a:solidFill>
                  <a:srgbClr val="FF0000"/>
                </a:solidFill>
                <a:latin typeface="Arial Black" pitchFamily="34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Arial Black" pitchFamily="34" charset="0"/>
              </a:rPr>
              <a:t>:-</a:t>
            </a:r>
          </a:p>
          <a:p>
            <a:pPr algn="just">
              <a:lnSpc>
                <a:spcPct val="80000"/>
              </a:lnSpc>
            </a:pPr>
            <a:endParaRPr lang="en-US" b="1" dirty="0">
              <a:solidFill>
                <a:srgbClr val="FF0000"/>
              </a:solidFill>
              <a:cs typeface="Arial" pitchFamily="34" charset="0"/>
            </a:endParaRPr>
          </a:p>
          <a:p>
            <a:pPr algn="just">
              <a:lnSpc>
                <a:spcPct val="80000"/>
              </a:lnSpc>
            </a:pPr>
            <a:r>
              <a:rPr lang="en-US" b="1" dirty="0">
                <a:solidFill>
                  <a:srgbClr val="FF0000"/>
                </a:solidFill>
                <a:cs typeface="Arial" pitchFamily="34" charset="0"/>
              </a:rPr>
              <a:t>The maximum angle of incidence at the end face of an Optical fiber for which the light ray can be propagated along Core-Cladding interface is known as maximum Acceptance angle. It is also called Acceptance cone half angle.</a:t>
            </a:r>
            <a:endParaRPr lang="el-GR" b="1" dirty="0">
              <a:solidFill>
                <a:srgbClr val="FF0000"/>
              </a:solidFill>
              <a:cs typeface="Arial" pitchFamily="34" charset="0"/>
            </a:endParaRPr>
          </a:p>
          <a:p>
            <a:endParaRPr lang="en-IN" dirty="0"/>
          </a:p>
        </p:txBody>
      </p:sp>
      <p:pic>
        <p:nvPicPr>
          <p:cNvPr id="1106" name="Picture 8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1295400"/>
            <a:ext cx="8591550" cy="534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5" name="Picture 4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2569" y="83582"/>
            <a:ext cx="8810625" cy="651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9" name="Picture 4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96787" y="3417644"/>
            <a:ext cx="3738114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638800" y="0"/>
            <a:ext cx="3505200" cy="11478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971800" y="2819400"/>
            <a:ext cx="1209675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C0EBED-C7C7-6E79-00E0-A08AABCBBB66}"/>
              </a:ext>
            </a:extLst>
          </p:cNvPr>
          <p:cNvSpPr txBox="1"/>
          <p:nvPr/>
        </p:nvSpPr>
        <p:spPr>
          <a:xfrm>
            <a:off x="4648200" y="2833639"/>
            <a:ext cx="173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From Snell’s Law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28600"/>
            <a:ext cx="6553200" cy="655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838200"/>
            <a:ext cx="85725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304800" y="4648200"/>
            <a:ext cx="5294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For single mode optical fiber V ≤ 2.405</a:t>
            </a:r>
          </a:p>
          <a:p>
            <a:r>
              <a:rPr lang="en-US" dirty="0">
                <a:latin typeface="Arial" pitchFamily="34" charset="0"/>
                <a:cs typeface="Arial" pitchFamily="34" charset="0"/>
              </a:rPr>
              <a:t>For multimode optical fiber V ˃ 2.405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5800" y="609600"/>
            <a:ext cx="7533695" cy="556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194937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381000"/>
            <a:ext cx="8353168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70996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8150" y="0"/>
            <a:ext cx="8267700" cy="575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198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8275" y="5562600"/>
            <a:ext cx="60293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308481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28599"/>
            <a:ext cx="9042699" cy="64602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09458" y="2311837"/>
            <a:ext cx="3186892" cy="157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209138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D93DB-BE0B-C019-3C41-B5952502D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964"/>
            <a:ext cx="9144000" cy="5716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657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2E95F5-6BF0-08CF-6E7D-90D75DCD5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57" y="124843"/>
            <a:ext cx="8610600" cy="42685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058128E-BEE3-92FC-2043-4CCA61E9B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343" y="4343400"/>
            <a:ext cx="8382000" cy="238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109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331</Words>
  <Application>Microsoft Office PowerPoint</Application>
  <PresentationFormat>On-screen Show (4:3)</PresentationFormat>
  <Paragraphs>57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</vt:lpstr>
      <vt:lpstr>Arial Black</vt:lpstr>
      <vt:lpstr>Baskerville Old Face</vt:lpstr>
      <vt:lpstr>Calibri</vt:lpstr>
      <vt:lpstr>StarSymbol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Fiber Optic Cables</vt:lpstr>
      <vt:lpstr>Total Internal Reflection</vt:lpstr>
      <vt:lpstr>How Does an Optical Fiber Transmit Light?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Sony</dc:creator>
  <cp:lastModifiedBy>Dheeraj Bhardwaj</cp:lastModifiedBy>
  <cp:revision>43</cp:revision>
  <dcterms:created xsi:type="dcterms:W3CDTF">2006-08-16T00:00:00Z</dcterms:created>
  <dcterms:modified xsi:type="dcterms:W3CDTF">2024-02-16T10:46:09Z</dcterms:modified>
</cp:coreProperties>
</file>